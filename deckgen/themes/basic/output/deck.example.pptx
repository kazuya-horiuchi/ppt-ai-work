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563EB"/>
          </a:solidFill>
          <a:ln/>
        </p:spPr>
      </p:sp>
      <p:sp>
        <p:nvSpPr>
          <p:cNvPr id="3" name="Text 1"/>
          <p:cNvSpPr/>
          <p:nvPr/>
        </p:nvSpPr>
        <p:spPr>
          <a:xfrm>
            <a:off x="822960" y="1828800"/>
            <a:ext cx="10515600" cy="548640"/>
          </a:xfrm>
          <a:prstGeom prst="rect">
            <a:avLst/>
          </a:prstGeom>
          <a:noFill/>
          <a:ln/>
        </p:spPr>
        <p:txBody>
          <a:bodyPr wrap="square" rtlCol="0" anchor="ctr"/>
          <a:lstStyle/>
          <a:p>
            <a:pPr indent="0" marL="0">
              <a:buNone/>
            </a:pPr>
            <a:r>
              <a:rPr lang="en-US" sz="1600" b="1" dirty="0">
                <a:solidFill>
                  <a:srgbClr val="2563EB"/>
                </a:solidFill>
                <a:latin typeface="Yu Gothic" pitchFamily="34" charset="0"/>
                <a:ea typeface="Yu Gothic" pitchFamily="34" charset="-122"/>
                <a:cs typeface="Yu Gothic" pitchFamily="34" charset="-120"/>
              </a:rPr>
              <a:t>テンプレ動作確認</a:t>
            </a:r>
            <a:endParaRPr lang="en-US" sz="1600" dirty="0"/>
          </a:p>
        </p:txBody>
      </p:sp>
      <p:sp>
        <p:nvSpPr>
          <p:cNvPr id="4" name="Text 2"/>
          <p:cNvSpPr/>
          <p:nvPr/>
        </p:nvSpPr>
        <p:spPr>
          <a:xfrm>
            <a:off x="822960" y="2468880"/>
            <a:ext cx="10515600" cy="2011680"/>
          </a:xfrm>
          <a:prstGeom prst="rect">
            <a:avLst/>
          </a:prstGeom>
          <a:noFill/>
          <a:ln/>
        </p:spPr>
        <p:txBody>
          <a:bodyPr wrap="square" rtlCol="0" anchor="ctr"/>
          <a:lstStyle/>
          <a:p>
            <a:pPr indent="0" marL="0">
              <a:lnSpc>
                <a:spcPct val="120000"/>
              </a:lnSpc>
              <a:buNone/>
            </a:pPr>
            <a:r>
              <a:rPr lang="en-US" sz="3600" b="1" dirty="0">
                <a:solidFill>
                  <a:srgbClr val="111827"/>
                </a:solidFill>
                <a:latin typeface="Yu Gothic" pitchFamily="34" charset="0"/>
                <a:ea typeface="Yu Gothic" pitchFamily="34" charset="-122"/>
                <a:cs typeface="Yu Gothic" pitchFamily="34" charset="-120"/>
              </a:rPr>
              <a:t>全 kind デモ</a:t>
            </a:r>
            <a:endParaRPr lang="en-US" sz="3600" dirty="0"/>
          </a:p>
          <a:p>
            <a:pPr indent="0" marL="0">
              <a:lnSpc>
                <a:spcPct val="120000"/>
              </a:lnSpc>
              <a:buNone/>
            </a:pPr>
            <a:r>
              <a:rPr lang="en-US" sz="3600" b="1" dirty="0">
                <a:solidFill>
                  <a:srgbClr val="111827"/>
                </a:solidFill>
                <a:latin typeface="Yu Gothic" pitchFamily="34" charset="0"/>
                <a:ea typeface="Yu Gothic" pitchFamily="34" charset="-122"/>
                <a:cs typeface="Yu Gothic" pitchFamily="34" charset="-120"/>
              </a:rPr>
              <a:t>— スライド構築テンプレ集</a:t>
            </a:r>
            <a:endParaRPr lang="en-US" sz="3600" dirty="0"/>
          </a:p>
        </p:txBody>
      </p:sp>
      <p:sp>
        <p:nvSpPr>
          <p:cNvPr id="5" name="Shape 3"/>
          <p:cNvSpPr/>
          <p:nvPr/>
        </p:nvSpPr>
        <p:spPr>
          <a:xfrm>
            <a:off x="822960" y="4572000"/>
            <a:ext cx="548640" cy="45720"/>
          </a:xfrm>
          <a:prstGeom prst="rect">
            <a:avLst/>
          </a:prstGeom>
          <a:solidFill>
            <a:srgbClr val="2563EB"/>
          </a:solidFill>
          <a:ln/>
        </p:spPr>
      </p:sp>
      <p:sp>
        <p:nvSpPr>
          <p:cNvPr id="6" name="Text 4"/>
          <p:cNvSpPr/>
          <p:nvPr/>
        </p:nvSpPr>
        <p:spPr>
          <a:xfrm>
            <a:off x="822960" y="4709160"/>
            <a:ext cx="10515600" cy="457200"/>
          </a:xfrm>
          <a:prstGeom prst="rect">
            <a:avLst/>
          </a:prstGeom>
          <a:noFill/>
          <a:ln/>
        </p:spPr>
        <p:txBody>
          <a:bodyPr wrap="square" rtlCol="0" anchor="ctr"/>
          <a:lstStyle/>
          <a:p>
            <a:pPr indent="0" marL="0">
              <a:buNone/>
            </a:pPr>
            <a:r>
              <a:rPr lang="en-US" sz="1400" dirty="0">
                <a:solidFill>
                  <a:srgbClr val="4B5563"/>
                </a:solidFill>
                <a:latin typeface="Yu Gothic" pitchFamily="34" charset="0"/>
                <a:ea typeface="Yu Gothic" pitchFamily="34" charset="-122"/>
                <a:cs typeface="Yu Gothic" pitchFamily="34" charset="-120"/>
              </a:rPr>
              <a:t>title-slide / divider / bullets / table / 比較 / 図形系（flow・process 等）</a:t>
            </a:r>
            <a:endParaRPr lang="en-US" sz="1400" dirty="0"/>
          </a:p>
        </p:txBody>
      </p:sp>
      <p:sp>
        <p:nvSpPr>
          <p:cNvPr id="7" name="Text 5"/>
          <p:cNvSpPr/>
          <p:nvPr/>
        </p:nvSpPr>
        <p:spPr>
          <a:xfrm>
            <a:off x="822960" y="6126480"/>
            <a:ext cx="10515600" cy="274320"/>
          </a:xfrm>
          <a:prstGeom prst="rect">
            <a:avLst/>
          </a:prstGeom>
          <a:noFill/>
          <a:ln/>
        </p:spPr>
        <p:txBody>
          <a:bodyPr wrap="square"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作成日: 2026-06-29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94360" y="2103120"/>
            <a:ext cx="11002975" cy="411480"/>
          </a:xfrm>
          <a:prstGeom prst="rect">
            <a:avLst/>
          </a:prstGeom>
          <a:noFill/>
          <a:ln/>
        </p:spPr>
        <p:txBody>
          <a:bodyPr wrap="square" rtlCol="0" anchor="ctr"/>
          <a:lstStyle/>
          <a:p>
            <a:pPr algn="ctr" indent="0" marL="0">
              <a:buNone/>
            </a:pPr>
            <a:r>
              <a:rPr lang="en-US" sz="1800" b="1" dirty="0">
                <a:solidFill>
                  <a:srgbClr val="2563EB"/>
                </a:solidFill>
                <a:latin typeface="Yu Gothic" pitchFamily="34" charset="0"/>
                <a:ea typeface="Yu Gothic" pitchFamily="34" charset="-122"/>
                <a:cs typeface="Yu Gothic" pitchFamily="34" charset="-120"/>
              </a:rPr>
              <a:t>Section 1</a:t>
            </a:r>
            <a:endParaRPr lang="en-US" sz="1800" dirty="0"/>
          </a:p>
        </p:txBody>
      </p:sp>
      <p:sp>
        <p:nvSpPr>
          <p:cNvPr id="3" name="Text 1"/>
          <p:cNvSpPr/>
          <p:nvPr/>
        </p:nvSpPr>
        <p:spPr>
          <a:xfrm>
            <a:off x="594360" y="2834640"/>
            <a:ext cx="11002975" cy="1463040"/>
          </a:xfrm>
          <a:prstGeom prst="rect">
            <a:avLst/>
          </a:prstGeom>
          <a:noFill/>
          <a:ln/>
        </p:spPr>
        <p:txBody>
          <a:bodyPr wrap="square" rtlCol="0" anchor="ctr"/>
          <a:lstStyle/>
          <a:p>
            <a:pPr algn="ctr" indent="0" marL="0">
              <a:lnSpc>
                <a:spcPct val="120000"/>
              </a:lnSpc>
              <a:buNone/>
            </a:pPr>
            <a:r>
              <a:rPr lang="en-US" sz="3200" b="1" dirty="0">
                <a:solidFill>
                  <a:srgbClr val="111827"/>
                </a:solidFill>
                <a:latin typeface="Yu Gothic" pitchFamily="34" charset="0"/>
                <a:ea typeface="Yu Gothic" pitchFamily="34" charset="-122"/>
                <a:cs typeface="Yu Gothic" pitchFamily="34" charset="-120"/>
              </a:rPr>
              <a:t>テキスト系の kind</a:t>
            </a:r>
            <a:endParaRPr lang="en-US" sz="3200" dirty="0"/>
          </a:p>
        </p:txBody>
      </p:sp>
      <p:sp>
        <p:nvSpPr>
          <p:cNvPr id="4" name="Text 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bullets ─ 全幅の箇条書き</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タイトル + サブメッセージ + 全幅の bullet list。最も基本的な構造のスライド。</a:t>
            </a:r>
            <a:endParaRPr lang="en-US" sz="1300" dirty="0"/>
          </a:p>
        </p:txBody>
      </p:sp>
      <p:sp>
        <p:nvSpPr>
          <p:cNvPr id="4" name="Shape 2"/>
          <p:cNvSpPr/>
          <p:nvPr/>
        </p:nvSpPr>
        <p:spPr>
          <a:xfrm>
            <a:off x="594360" y="1874520"/>
            <a:ext cx="11002975" cy="4434840"/>
          </a:xfrm>
          <a:prstGeom prst="rect">
            <a:avLst/>
          </a:prstGeom>
          <a:solidFill>
            <a:srgbClr val="F9FAFB"/>
          </a:solidFill>
          <a:ln/>
        </p:spPr>
      </p:sp>
      <p:sp>
        <p:nvSpPr>
          <p:cNvPr id="5" name="Text 3"/>
          <p:cNvSpPr/>
          <p:nvPr/>
        </p:nvSpPr>
        <p:spPr>
          <a:xfrm>
            <a:off x="914400" y="2148840"/>
            <a:ext cx="10362895" cy="3886200"/>
          </a:xfrm>
          <a:prstGeom prst="rect">
            <a:avLst/>
          </a:prstGeom>
          <a:noFill/>
          <a:ln/>
        </p:spPr>
        <p:txBody>
          <a:bodyPr wrap="square" rtlCol="0" anchor="t"/>
          <a:lstStyle/>
          <a:p>
            <a:pPr marL="342900" indent="-342900">
              <a:lnSpc>
                <a:spcPct val="125000"/>
              </a:lnSpc>
              <a:spcAft>
                <a:spcPts val="800"/>
              </a:spcAft>
              <a:buSzPct val="100000"/>
              <a:buChar char="◆"/>
            </a:pPr>
            <a:r>
              <a:rPr lang="en-US" sz="1400" dirty="0">
                <a:solidFill>
                  <a:srgbClr val="111827"/>
                </a:solidFill>
                <a:latin typeface="Yu Gothic" pitchFamily="34" charset="0"/>
                <a:ea typeface="Yu Gothic" pitchFamily="34" charset="-122"/>
                <a:cs typeface="Yu Gothic" pitchFamily="34" charset="-120"/>
              </a:rPr>
              <a:t>1 行の主張をそのまま列挙する</a:t>
            </a:r>
            <a:endParaRPr lang="en-US" sz="1400" dirty="0"/>
          </a:p>
          <a:p>
            <a:pPr marL="342900" indent="-342900">
              <a:lnSpc>
                <a:spcPct val="125000"/>
              </a:lnSpc>
              <a:spcAft>
                <a:spcPts val="800"/>
              </a:spcAft>
              <a:buSzPct val="100000"/>
              <a:buChar char="◆"/>
            </a:pPr>
            <a:r>
              <a:rPr lang="en-US" sz="1400" dirty="0">
                <a:solidFill>
                  <a:srgbClr val="111827"/>
                </a:solidFill>
                <a:latin typeface="Yu Gothic" pitchFamily="34" charset="0"/>
                <a:ea typeface="Yu Gothic" pitchFamily="34" charset="-122"/>
                <a:cs typeface="Yu Gothic" pitchFamily="34" charset="-120"/>
              </a:rPr>
              <a:t>5〜7 項目程度に収めると視認性が高い</a:t>
            </a:r>
            <a:endParaRPr lang="en-US" sz="1400" dirty="0"/>
          </a:p>
          <a:p>
            <a:pPr marL="342900" indent="-342900">
              <a:lnSpc>
                <a:spcPct val="125000"/>
              </a:lnSpc>
              <a:spcAft>
                <a:spcPts val="800"/>
              </a:spcAft>
              <a:buSzPct val="100000"/>
              <a:buChar char="◆"/>
            </a:pPr>
            <a:r>
              <a:rPr lang="en-US" sz="1400" dirty="0">
                <a:solidFill>
                  <a:srgbClr val="111827"/>
                </a:solidFill>
                <a:latin typeface="Yu Gothic" pitchFamily="34" charset="0"/>
                <a:ea typeface="Yu Gothic" pitchFamily="34" charset="-122"/>
                <a:cs typeface="Yu Gothic" pitchFamily="34" charset="-120"/>
              </a:rPr>
              <a:t>1 項目が長文化したら別 kind（cards 等）を検討</a:t>
            </a:r>
            <a:endParaRPr lang="en-US" sz="1400" dirty="0"/>
          </a:p>
          <a:p>
            <a:pPr marL="342900" indent="-342900">
              <a:lnSpc>
                <a:spcPct val="125000"/>
              </a:lnSpc>
              <a:spcAft>
                <a:spcPts val="800"/>
              </a:spcAft>
              <a:buSzPct val="100000"/>
              <a:buChar char="◆"/>
            </a:pPr>
            <a:r>
              <a:rPr lang="en-US" sz="1400" dirty="0">
                <a:solidFill>
                  <a:srgbClr val="111827"/>
                </a:solidFill>
                <a:latin typeface="Yu Gothic" pitchFamily="34" charset="0"/>
                <a:ea typeface="Yu Gothic" pitchFamily="34" charset="-122"/>
                <a:cs typeface="Yu Gothic" pitchFamily="34" charset="-120"/>
              </a:rPr>
              <a:t>items は順序に意味があってもなくても良い</a:t>
            </a:r>
            <a:endParaRPr lang="en-US" sz="1400" dirty="0"/>
          </a:p>
        </p:txBody>
      </p:sp>
      <p:sp>
        <p:nvSpPr>
          <p:cNvPr id="6" name="Text 4"/>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7" name="Text 5"/>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list-rows ─ 帯付きの重要項目リスト（3 件）</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最小構成の 3 件。行群はコンテンツ領域の垂直中央に寄る。</a:t>
            </a:r>
            <a:endParaRPr lang="en-US" sz="1300" dirty="0"/>
          </a:p>
        </p:txBody>
      </p:sp>
      <p:sp>
        <p:nvSpPr>
          <p:cNvPr id="4" name="Shape 2"/>
          <p:cNvSpPr/>
          <p:nvPr/>
        </p:nvSpPr>
        <p:spPr>
          <a:xfrm>
            <a:off x="594360" y="2820924"/>
            <a:ext cx="11002975" cy="694944"/>
          </a:xfrm>
          <a:prstGeom prst="rect">
            <a:avLst/>
          </a:prstGeom>
          <a:solidFill>
            <a:srgbClr val="FFFFFF"/>
          </a:solidFill>
          <a:ln w="12700">
            <a:solidFill>
              <a:srgbClr val="2563EB"/>
            </a:solidFill>
            <a:prstDash val="solid"/>
          </a:ln>
        </p:spPr>
      </p:sp>
      <p:sp>
        <p:nvSpPr>
          <p:cNvPr id="5" name="Shape 3"/>
          <p:cNvSpPr/>
          <p:nvPr/>
        </p:nvSpPr>
        <p:spPr>
          <a:xfrm>
            <a:off x="594360" y="2820924"/>
            <a:ext cx="731520" cy="694944"/>
          </a:xfrm>
          <a:prstGeom prst="rect">
            <a:avLst/>
          </a:prstGeom>
          <a:solidFill>
            <a:srgbClr val="2563EB"/>
          </a:solidFill>
          <a:ln/>
        </p:spPr>
      </p:sp>
      <p:sp>
        <p:nvSpPr>
          <p:cNvPr id="6" name="Text 4"/>
          <p:cNvSpPr/>
          <p:nvPr/>
        </p:nvSpPr>
        <p:spPr>
          <a:xfrm>
            <a:off x="594360" y="2820924"/>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a:t>
            </a:r>
            <a:endParaRPr lang="en-US" sz="2000" dirty="0"/>
          </a:p>
        </p:txBody>
      </p:sp>
      <p:sp>
        <p:nvSpPr>
          <p:cNvPr id="7" name="Text 5"/>
          <p:cNvSpPr/>
          <p:nvPr/>
        </p:nvSpPr>
        <p:spPr>
          <a:xfrm>
            <a:off x="1645920" y="2820924"/>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重要項目は 3〜5 件に絞り込む（件数は厳守）</a:t>
            </a:r>
            <a:endParaRPr lang="en-US" sz="1600" dirty="0"/>
          </a:p>
        </p:txBody>
      </p:sp>
      <p:sp>
        <p:nvSpPr>
          <p:cNvPr id="8" name="Shape 6"/>
          <p:cNvSpPr/>
          <p:nvPr/>
        </p:nvSpPr>
        <p:spPr>
          <a:xfrm>
            <a:off x="594360" y="3744468"/>
            <a:ext cx="11002975" cy="694944"/>
          </a:xfrm>
          <a:prstGeom prst="rect">
            <a:avLst/>
          </a:prstGeom>
          <a:solidFill>
            <a:srgbClr val="FFFFFF"/>
          </a:solidFill>
          <a:ln w="12700">
            <a:solidFill>
              <a:srgbClr val="2563EB"/>
            </a:solidFill>
            <a:prstDash val="solid"/>
          </a:ln>
        </p:spPr>
      </p:sp>
      <p:sp>
        <p:nvSpPr>
          <p:cNvPr id="9" name="Shape 7"/>
          <p:cNvSpPr/>
          <p:nvPr/>
        </p:nvSpPr>
        <p:spPr>
          <a:xfrm>
            <a:off x="594360" y="3744468"/>
            <a:ext cx="731520" cy="694944"/>
          </a:xfrm>
          <a:prstGeom prst="rect">
            <a:avLst/>
          </a:prstGeom>
          <a:solidFill>
            <a:srgbClr val="2563EB"/>
          </a:solidFill>
          <a:ln/>
        </p:spPr>
      </p:sp>
      <p:sp>
        <p:nvSpPr>
          <p:cNvPr id="10" name="Text 8"/>
          <p:cNvSpPr/>
          <p:nvPr/>
        </p:nvSpPr>
        <p:spPr>
          <a:xfrm>
            <a:off x="594360" y="3744468"/>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1645920" y="3744468"/>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各項目は 1 行で読み切れる短文にする</a:t>
            </a:r>
            <a:endParaRPr lang="en-US" sz="1600" dirty="0"/>
          </a:p>
        </p:txBody>
      </p:sp>
      <p:sp>
        <p:nvSpPr>
          <p:cNvPr id="12" name="Shape 10"/>
          <p:cNvSpPr/>
          <p:nvPr/>
        </p:nvSpPr>
        <p:spPr>
          <a:xfrm>
            <a:off x="594360" y="4668012"/>
            <a:ext cx="11002975" cy="694944"/>
          </a:xfrm>
          <a:prstGeom prst="rect">
            <a:avLst/>
          </a:prstGeom>
          <a:solidFill>
            <a:srgbClr val="FFFFFF"/>
          </a:solidFill>
          <a:ln w="12700">
            <a:solidFill>
              <a:srgbClr val="2563EB"/>
            </a:solidFill>
            <a:prstDash val="solid"/>
          </a:ln>
        </p:spPr>
      </p:sp>
      <p:sp>
        <p:nvSpPr>
          <p:cNvPr id="13" name="Shape 11"/>
          <p:cNvSpPr/>
          <p:nvPr/>
        </p:nvSpPr>
        <p:spPr>
          <a:xfrm>
            <a:off x="594360" y="4668012"/>
            <a:ext cx="731520" cy="694944"/>
          </a:xfrm>
          <a:prstGeom prst="rect">
            <a:avLst/>
          </a:prstGeom>
          <a:solidFill>
            <a:srgbClr val="2563EB"/>
          </a:solidFill>
          <a:ln/>
        </p:spPr>
      </p:sp>
      <p:sp>
        <p:nvSpPr>
          <p:cNvPr id="14" name="Text 12"/>
          <p:cNvSpPr/>
          <p:nvPr/>
        </p:nvSpPr>
        <p:spPr>
          <a:xfrm>
            <a:off x="594360" y="4668012"/>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3</a:t>
            </a:r>
            <a:endParaRPr lang="en-US" sz="2000" dirty="0"/>
          </a:p>
        </p:txBody>
      </p:sp>
      <p:sp>
        <p:nvSpPr>
          <p:cNvPr id="15" name="Text 13"/>
          <p:cNvSpPr/>
          <p:nvPr/>
        </p:nvSpPr>
        <p:spPr>
          <a:xfrm>
            <a:off x="1645920" y="4668012"/>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要点・原則・決定事項のように 1 件ずつ記憶させたい内容に向く</a:t>
            </a:r>
            <a:endParaRPr lang="en-US" sz="1600" dirty="0"/>
          </a:p>
        </p:txBody>
      </p:sp>
      <p:sp>
        <p:nvSpPr>
          <p:cNvPr id="16" name="Text 14"/>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17" name="Text 15"/>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list-rows ─ 帯付きの重要項目リスト（4 件）</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4 件構成。左端のアクセントブロックには連番が入る。</a:t>
            </a:r>
            <a:endParaRPr lang="en-US" sz="1300" dirty="0"/>
          </a:p>
        </p:txBody>
      </p:sp>
      <p:sp>
        <p:nvSpPr>
          <p:cNvPr id="4" name="Shape 2"/>
          <p:cNvSpPr/>
          <p:nvPr/>
        </p:nvSpPr>
        <p:spPr>
          <a:xfrm>
            <a:off x="594360" y="2359152"/>
            <a:ext cx="11002975" cy="694944"/>
          </a:xfrm>
          <a:prstGeom prst="rect">
            <a:avLst/>
          </a:prstGeom>
          <a:solidFill>
            <a:srgbClr val="FFFFFF"/>
          </a:solidFill>
          <a:ln w="12700">
            <a:solidFill>
              <a:srgbClr val="2563EB"/>
            </a:solidFill>
            <a:prstDash val="solid"/>
          </a:ln>
        </p:spPr>
      </p:sp>
      <p:sp>
        <p:nvSpPr>
          <p:cNvPr id="5" name="Shape 3"/>
          <p:cNvSpPr/>
          <p:nvPr/>
        </p:nvSpPr>
        <p:spPr>
          <a:xfrm>
            <a:off x="594360" y="2359152"/>
            <a:ext cx="731520" cy="694944"/>
          </a:xfrm>
          <a:prstGeom prst="rect">
            <a:avLst/>
          </a:prstGeom>
          <a:solidFill>
            <a:srgbClr val="2563EB"/>
          </a:solidFill>
          <a:ln/>
        </p:spPr>
      </p:sp>
      <p:sp>
        <p:nvSpPr>
          <p:cNvPr id="6" name="Text 4"/>
          <p:cNvSpPr/>
          <p:nvPr/>
        </p:nvSpPr>
        <p:spPr>
          <a:xfrm>
            <a:off x="594360" y="2359152"/>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a:t>
            </a:r>
            <a:endParaRPr lang="en-US" sz="2000" dirty="0"/>
          </a:p>
        </p:txBody>
      </p:sp>
      <p:sp>
        <p:nvSpPr>
          <p:cNvPr id="7" name="Text 5"/>
          <p:cNvSpPr/>
          <p:nvPr/>
        </p:nvSpPr>
        <p:spPr>
          <a:xfrm>
            <a:off x="1645920" y="2359152"/>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件数が少ない場合は行群が垂直中央に寄る</a:t>
            </a:r>
            <a:endParaRPr lang="en-US" sz="1600" dirty="0"/>
          </a:p>
        </p:txBody>
      </p:sp>
      <p:sp>
        <p:nvSpPr>
          <p:cNvPr id="8" name="Shape 6"/>
          <p:cNvSpPr/>
          <p:nvPr/>
        </p:nvSpPr>
        <p:spPr>
          <a:xfrm>
            <a:off x="594360" y="3282696"/>
            <a:ext cx="11002975" cy="694944"/>
          </a:xfrm>
          <a:prstGeom prst="rect">
            <a:avLst/>
          </a:prstGeom>
          <a:solidFill>
            <a:srgbClr val="FFFFFF"/>
          </a:solidFill>
          <a:ln w="12700">
            <a:solidFill>
              <a:srgbClr val="2563EB"/>
            </a:solidFill>
            <a:prstDash val="solid"/>
          </a:ln>
        </p:spPr>
      </p:sp>
      <p:sp>
        <p:nvSpPr>
          <p:cNvPr id="9" name="Shape 7"/>
          <p:cNvSpPr/>
          <p:nvPr/>
        </p:nvSpPr>
        <p:spPr>
          <a:xfrm>
            <a:off x="594360" y="3282696"/>
            <a:ext cx="731520" cy="694944"/>
          </a:xfrm>
          <a:prstGeom prst="rect">
            <a:avLst/>
          </a:prstGeom>
          <a:solidFill>
            <a:srgbClr val="2563EB"/>
          </a:solidFill>
          <a:ln/>
        </p:spPr>
      </p:sp>
      <p:sp>
        <p:nvSpPr>
          <p:cNvPr id="10" name="Text 8"/>
          <p:cNvSpPr/>
          <p:nvPr/>
        </p:nvSpPr>
        <p:spPr>
          <a:xfrm>
            <a:off x="594360" y="3282696"/>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1645920" y="3282696"/>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行の高さと行間は件数によらず固定</a:t>
            </a:r>
            <a:endParaRPr lang="en-US" sz="1600" dirty="0"/>
          </a:p>
        </p:txBody>
      </p:sp>
      <p:sp>
        <p:nvSpPr>
          <p:cNvPr id="12" name="Shape 10"/>
          <p:cNvSpPr/>
          <p:nvPr/>
        </p:nvSpPr>
        <p:spPr>
          <a:xfrm>
            <a:off x="594360" y="4206240"/>
            <a:ext cx="11002975" cy="694944"/>
          </a:xfrm>
          <a:prstGeom prst="rect">
            <a:avLst/>
          </a:prstGeom>
          <a:solidFill>
            <a:srgbClr val="FFFFFF"/>
          </a:solidFill>
          <a:ln w="12700">
            <a:solidFill>
              <a:srgbClr val="2563EB"/>
            </a:solidFill>
            <a:prstDash val="solid"/>
          </a:ln>
        </p:spPr>
      </p:sp>
      <p:sp>
        <p:nvSpPr>
          <p:cNvPr id="13" name="Shape 11"/>
          <p:cNvSpPr/>
          <p:nvPr/>
        </p:nvSpPr>
        <p:spPr>
          <a:xfrm>
            <a:off x="594360" y="4206240"/>
            <a:ext cx="731520" cy="694944"/>
          </a:xfrm>
          <a:prstGeom prst="rect">
            <a:avLst/>
          </a:prstGeom>
          <a:solidFill>
            <a:srgbClr val="2563EB"/>
          </a:solidFill>
          <a:ln/>
        </p:spPr>
      </p:sp>
      <p:sp>
        <p:nvSpPr>
          <p:cNvPr id="14" name="Text 12"/>
          <p:cNvSpPr/>
          <p:nvPr/>
        </p:nvSpPr>
        <p:spPr>
          <a:xfrm>
            <a:off x="594360" y="4206240"/>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3</a:t>
            </a:r>
            <a:endParaRPr lang="en-US" sz="2000" dirty="0"/>
          </a:p>
        </p:txBody>
      </p:sp>
      <p:sp>
        <p:nvSpPr>
          <p:cNvPr id="15" name="Text 13"/>
          <p:cNvSpPr/>
          <p:nvPr/>
        </p:nvSpPr>
        <p:spPr>
          <a:xfrm>
            <a:off x="1645920" y="4206240"/>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連番は renderer が自動で振る（deck 側では書かない）</a:t>
            </a:r>
            <a:endParaRPr lang="en-US" sz="1600" dirty="0"/>
          </a:p>
        </p:txBody>
      </p:sp>
      <p:sp>
        <p:nvSpPr>
          <p:cNvPr id="16" name="Shape 14"/>
          <p:cNvSpPr/>
          <p:nvPr/>
        </p:nvSpPr>
        <p:spPr>
          <a:xfrm>
            <a:off x="594360" y="5129784"/>
            <a:ext cx="11002975" cy="694944"/>
          </a:xfrm>
          <a:prstGeom prst="rect">
            <a:avLst/>
          </a:prstGeom>
          <a:solidFill>
            <a:srgbClr val="FFFFFF"/>
          </a:solidFill>
          <a:ln w="12700">
            <a:solidFill>
              <a:srgbClr val="2563EB"/>
            </a:solidFill>
            <a:prstDash val="solid"/>
          </a:ln>
        </p:spPr>
      </p:sp>
      <p:sp>
        <p:nvSpPr>
          <p:cNvPr id="17" name="Shape 15"/>
          <p:cNvSpPr/>
          <p:nvPr/>
        </p:nvSpPr>
        <p:spPr>
          <a:xfrm>
            <a:off x="594360" y="5129784"/>
            <a:ext cx="731520" cy="694944"/>
          </a:xfrm>
          <a:prstGeom prst="rect">
            <a:avLst/>
          </a:prstGeom>
          <a:solidFill>
            <a:srgbClr val="2563EB"/>
          </a:solidFill>
          <a:ln/>
        </p:spPr>
      </p:sp>
      <p:sp>
        <p:nvSpPr>
          <p:cNvPr id="18" name="Text 16"/>
          <p:cNvSpPr/>
          <p:nvPr/>
        </p:nvSpPr>
        <p:spPr>
          <a:xfrm>
            <a:off x="594360" y="5129784"/>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4</a:t>
            </a:r>
            <a:endParaRPr lang="en-US" sz="2000" dirty="0"/>
          </a:p>
        </p:txBody>
      </p:sp>
      <p:sp>
        <p:nvSpPr>
          <p:cNvPr id="19" name="Text 17"/>
          <p:cNvSpPr/>
          <p:nvPr/>
        </p:nvSpPr>
        <p:spPr>
          <a:xfrm>
            <a:off x="1645920" y="5129784"/>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この行は全角換算で最大文字数の四十文字ちょうどに揃えた検証用のサンプル項目です。</a:t>
            </a:r>
            <a:endParaRPr lang="en-US" sz="1600" dirty="0"/>
          </a:p>
        </p:txBody>
      </p:sp>
      <p:sp>
        <p:nvSpPr>
          <p:cNvPr id="20" name="Text 1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21" name="Text 1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list-rows ─ 帯付きの重要項目リスト（5 件）</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最大構成の 5 件。コンテンツ領域をほぼ満たす。</a:t>
            </a:r>
            <a:endParaRPr lang="en-US" sz="1300" dirty="0"/>
          </a:p>
        </p:txBody>
      </p:sp>
      <p:sp>
        <p:nvSpPr>
          <p:cNvPr id="4" name="Shape 2"/>
          <p:cNvSpPr/>
          <p:nvPr/>
        </p:nvSpPr>
        <p:spPr>
          <a:xfrm>
            <a:off x="594360" y="1897380"/>
            <a:ext cx="11002975" cy="694944"/>
          </a:xfrm>
          <a:prstGeom prst="rect">
            <a:avLst/>
          </a:prstGeom>
          <a:solidFill>
            <a:srgbClr val="FFFFFF"/>
          </a:solidFill>
          <a:ln w="12700">
            <a:solidFill>
              <a:srgbClr val="2563EB"/>
            </a:solidFill>
            <a:prstDash val="solid"/>
          </a:ln>
        </p:spPr>
      </p:sp>
      <p:sp>
        <p:nvSpPr>
          <p:cNvPr id="5" name="Shape 3"/>
          <p:cNvSpPr/>
          <p:nvPr/>
        </p:nvSpPr>
        <p:spPr>
          <a:xfrm>
            <a:off x="594360" y="1897380"/>
            <a:ext cx="731520" cy="694944"/>
          </a:xfrm>
          <a:prstGeom prst="rect">
            <a:avLst/>
          </a:prstGeom>
          <a:solidFill>
            <a:srgbClr val="2563EB"/>
          </a:solidFill>
          <a:ln/>
        </p:spPr>
      </p:sp>
      <p:sp>
        <p:nvSpPr>
          <p:cNvPr id="6" name="Text 4"/>
          <p:cNvSpPr/>
          <p:nvPr/>
        </p:nvSpPr>
        <p:spPr>
          <a:xfrm>
            <a:off x="594360" y="1897380"/>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a:t>
            </a:r>
            <a:endParaRPr lang="en-US" sz="2000" dirty="0"/>
          </a:p>
        </p:txBody>
      </p:sp>
      <p:sp>
        <p:nvSpPr>
          <p:cNvPr id="7" name="Text 5"/>
          <p:cNvSpPr/>
          <p:nvPr/>
        </p:nvSpPr>
        <p:spPr>
          <a:xfrm>
            <a:off x="1645920" y="1897380"/>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5 件でコンテンツ領域をほぼ満たす密度になる</a:t>
            </a:r>
            <a:endParaRPr lang="en-US" sz="1600" dirty="0"/>
          </a:p>
        </p:txBody>
      </p:sp>
      <p:sp>
        <p:nvSpPr>
          <p:cNvPr id="8" name="Shape 6"/>
          <p:cNvSpPr/>
          <p:nvPr/>
        </p:nvSpPr>
        <p:spPr>
          <a:xfrm>
            <a:off x="594360" y="2820924"/>
            <a:ext cx="11002975" cy="694944"/>
          </a:xfrm>
          <a:prstGeom prst="rect">
            <a:avLst/>
          </a:prstGeom>
          <a:solidFill>
            <a:srgbClr val="FFFFFF"/>
          </a:solidFill>
          <a:ln w="12700">
            <a:solidFill>
              <a:srgbClr val="2563EB"/>
            </a:solidFill>
            <a:prstDash val="solid"/>
          </a:ln>
        </p:spPr>
      </p:sp>
      <p:sp>
        <p:nvSpPr>
          <p:cNvPr id="9" name="Shape 7"/>
          <p:cNvSpPr/>
          <p:nvPr/>
        </p:nvSpPr>
        <p:spPr>
          <a:xfrm>
            <a:off x="594360" y="2820924"/>
            <a:ext cx="731520" cy="694944"/>
          </a:xfrm>
          <a:prstGeom prst="rect">
            <a:avLst/>
          </a:prstGeom>
          <a:solidFill>
            <a:srgbClr val="2563EB"/>
          </a:solidFill>
          <a:ln/>
        </p:spPr>
      </p:sp>
      <p:sp>
        <p:nvSpPr>
          <p:cNvPr id="10" name="Text 8"/>
          <p:cNvSpPr/>
          <p:nvPr/>
        </p:nvSpPr>
        <p:spPr>
          <a:xfrm>
            <a:off x="594360" y="2820924"/>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1645920" y="2820924"/>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6 件以上は警告プレースホルダになり描画されない</a:t>
            </a:r>
            <a:endParaRPr lang="en-US" sz="1600" dirty="0"/>
          </a:p>
        </p:txBody>
      </p:sp>
      <p:sp>
        <p:nvSpPr>
          <p:cNvPr id="12" name="Shape 10"/>
          <p:cNvSpPr/>
          <p:nvPr/>
        </p:nvSpPr>
        <p:spPr>
          <a:xfrm>
            <a:off x="594360" y="3744468"/>
            <a:ext cx="11002975" cy="694944"/>
          </a:xfrm>
          <a:prstGeom prst="rect">
            <a:avLst/>
          </a:prstGeom>
          <a:solidFill>
            <a:srgbClr val="FFFFFF"/>
          </a:solidFill>
          <a:ln w="12700">
            <a:solidFill>
              <a:srgbClr val="2563EB"/>
            </a:solidFill>
            <a:prstDash val="solid"/>
          </a:ln>
        </p:spPr>
      </p:sp>
      <p:sp>
        <p:nvSpPr>
          <p:cNvPr id="13" name="Shape 11"/>
          <p:cNvSpPr/>
          <p:nvPr/>
        </p:nvSpPr>
        <p:spPr>
          <a:xfrm>
            <a:off x="594360" y="3744468"/>
            <a:ext cx="731520" cy="694944"/>
          </a:xfrm>
          <a:prstGeom prst="rect">
            <a:avLst/>
          </a:prstGeom>
          <a:solidFill>
            <a:srgbClr val="2563EB"/>
          </a:solidFill>
          <a:ln/>
        </p:spPr>
      </p:sp>
      <p:sp>
        <p:nvSpPr>
          <p:cNvPr id="14" name="Text 12"/>
          <p:cNvSpPr/>
          <p:nvPr/>
        </p:nvSpPr>
        <p:spPr>
          <a:xfrm>
            <a:off x="594360" y="3744468"/>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3</a:t>
            </a:r>
            <a:endParaRPr lang="en-US" sz="2000" dirty="0"/>
          </a:p>
        </p:txBody>
      </p:sp>
      <p:sp>
        <p:nvSpPr>
          <p:cNvPr id="15" name="Text 13"/>
          <p:cNvSpPr/>
          <p:nvPr/>
        </p:nvSpPr>
        <p:spPr>
          <a:xfrm>
            <a:off x="1645920" y="3744468"/>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2 件以下も同様に警告になる</a:t>
            </a:r>
            <a:endParaRPr lang="en-US" sz="1600" dirty="0"/>
          </a:p>
        </p:txBody>
      </p:sp>
      <p:sp>
        <p:nvSpPr>
          <p:cNvPr id="16" name="Shape 14"/>
          <p:cNvSpPr/>
          <p:nvPr/>
        </p:nvSpPr>
        <p:spPr>
          <a:xfrm>
            <a:off x="594360" y="4668012"/>
            <a:ext cx="11002975" cy="694944"/>
          </a:xfrm>
          <a:prstGeom prst="rect">
            <a:avLst/>
          </a:prstGeom>
          <a:solidFill>
            <a:srgbClr val="FFFFFF"/>
          </a:solidFill>
          <a:ln w="12700">
            <a:solidFill>
              <a:srgbClr val="2563EB"/>
            </a:solidFill>
            <a:prstDash val="solid"/>
          </a:ln>
        </p:spPr>
      </p:sp>
      <p:sp>
        <p:nvSpPr>
          <p:cNvPr id="17" name="Shape 15"/>
          <p:cNvSpPr/>
          <p:nvPr/>
        </p:nvSpPr>
        <p:spPr>
          <a:xfrm>
            <a:off x="594360" y="4668012"/>
            <a:ext cx="731520" cy="694944"/>
          </a:xfrm>
          <a:prstGeom prst="rect">
            <a:avLst/>
          </a:prstGeom>
          <a:solidFill>
            <a:srgbClr val="2563EB"/>
          </a:solidFill>
          <a:ln/>
        </p:spPr>
      </p:sp>
      <p:sp>
        <p:nvSpPr>
          <p:cNvPr id="18" name="Text 16"/>
          <p:cNvSpPr/>
          <p:nvPr/>
        </p:nvSpPr>
        <p:spPr>
          <a:xfrm>
            <a:off x="594360" y="4668012"/>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4</a:t>
            </a:r>
            <a:endParaRPr lang="en-US" sz="2000" dirty="0"/>
          </a:p>
        </p:txBody>
      </p:sp>
      <p:sp>
        <p:nvSpPr>
          <p:cNvPr id="19" name="Text 17"/>
          <p:cNvSpPr/>
          <p:nvPr/>
        </p:nvSpPr>
        <p:spPr>
          <a:xfrm>
            <a:off x="1645920" y="4668012"/>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長文を入れたくなったら bullets や data-table を検討する</a:t>
            </a:r>
            <a:endParaRPr lang="en-US" sz="1600" dirty="0"/>
          </a:p>
        </p:txBody>
      </p:sp>
      <p:sp>
        <p:nvSpPr>
          <p:cNvPr id="20" name="Shape 18"/>
          <p:cNvSpPr/>
          <p:nvPr/>
        </p:nvSpPr>
        <p:spPr>
          <a:xfrm>
            <a:off x="594360" y="5591556"/>
            <a:ext cx="11002975" cy="694944"/>
          </a:xfrm>
          <a:prstGeom prst="rect">
            <a:avLst/>
          </a:prstGeom>
          <a:solidFill>
            <a:srgbClr val="FFFFFF"/>
          </a:solidFill>
          <a:ln w="12700">
            <a:solidFill>
              <a:srgbClr val="2563EB"/>
            </a:solidFill>
            <a:prstDash val="solid"/>
          </a:ln>
        </p:spPr>
      </p:sp>
      <p:sp>
        <p:nvSpPr>
          <p:cNvPr id="21" name="Shape 19"/>
          <p:cNvSpPr/>
          <p:nvPr/>
        </p:nvSpPr>
        <p:spPr>
          <a:xfrm>
            <a:off x="594360" y="5591556"/>
            <a:ext cx="731520" cy="694944"/>
          </a:xfrm>
          <a:prstGeom prst="rect">
            <a:avLst/>
          </a:prstGeom>
          <a:solidFill>
            <a:srgbClr val="2563EB"/>
          </a:solidFill>
          <a:ln/>
        </p:spPr>
      </p:sp>
      <p:sp>
        <p:nvSpPr>
          <p:cNvPr id="22" name="Text 20"/>
          <p:cNvSpPr/>
          <p:nvPr/>
        </p:nvSpPr>
        <p:spPr>
          <a:xfrm>
            <a:off x="594360" y="5591556"/>
            <a:ext cx="731520" cy="694944"/>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5</a:t>
            </a:r>
            <a:endParaRPr lang="en-US" sz="2000" dirty="0"/>
          </a:p>
        </p:txBody>
      </p:sp>
      <p:sp>
        <p:nvSpPr>
          <p:cNvPr id="23" name="Text 21"/>
          <p:cNvSpPr/>
          <p:nvPr/>
        </p:nvSpPr>
        <p:spPr>
          <a:xfrm>
            <a:off x="1645920" y="5591556"/>
            <a:ext cx="9631375" cy="694944"/>
          </a:xfrm>
          <a:prstGeom prst="rect">
            <a:avLst/>
          </a:prstGeom>
          <a:noFill/>
          <a:ln/>
        </p:spPr>
        <p:txBody>
          <a:bodyPr wrap="square" rtlCol="0" anchor="ctr"/>
          <a:lstStyle/>
          <a:p>
            <a:pPr indent="0" marL="0">
              <a:buNone/>
            </a:pPr>
            <a:r>
              <a:rPr lang="en-US" sz="1600" dirty="0">
                <a:solidFill>
                  <a:srgbClr val="111827"/>
                </a:solidFill>
                <a:latin typeface="Yu Gothic" pitchFamily="34" charset="0"/>
                <a:ea typeface="Yu Gothic" pitchFamily="34" charset="-122"/>
                <a:cs typeface="Yu Gothic" pitchFamily="34" charset="-120"/>
              </a:rPr>
              <a:t>この行は全角換算で最大文字数の四十文字ちょうどに揃えた検証用のサンプル項目です。</a:t>
            </a:r>
            <a:endParaRPr lang="en-US" sz="1600" dirty="0"/>
          </a:p>
        </p:txBody>
      </p:sp>
      <p:sp>
        <p:nvSpPr>
          <p:cNvPr id="24" name="Text 22"/>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25" name="Text 23"/>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key-takeaway ─ ひと言の結論</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資料中で「これだけ持ち帰って欲しい」要点を 1 つ強調する</a:t>
            </a:r>
            <a:endParaRPr lang="en-US" sz="1300" dirty="0"/>
          </a:p>
        </p:txBody>
      </p:sp>
      <p:sp>
        <p:nvSpPr>
          <p:cNvPr id="4" name="Text 2"/>
          <p:cNvSpPr/>
          <p:nvPr/>
        </p:nvSpPr>
        <p:spPr>
          <a:xfrm>
            <a:off x="594360" y="2821577"/>
            <a:ext cx="11002975" cy="1783080"/>
          </a:xfrm>
          <a:prstGeom prst="rect">
            <a:avLst/>
          </a:prstGeom>
          <a:noFill/>
          <a:ln/>
        </p:spPr>
        <p:txBody>
          <a:bodyPr wrap="square" rtlCol="0" anchor="ctr"/>
          <a:lstStyle/>
          <a:p>
            <a:pPr algn="ctr" indent="0" marL="0">
              <a:lnSpc>
                <a:spcPct val="130000"/>
              </a:lnSpc>
              <a:buNone/>
            </a:pPr>
            <a:r>
              <a:rPr lang="en-US" sz="3600" b="1" dirty="0">
                <a:solidFill>
                  <a:srgbClr val="2563EB"/>
                </a:solidFill>
                <a:latin typeface="Yu Gothic" pitchFamily="34" charset="0"/>
                <a:ea typeface="Yu Gothic" pitchFamily="34" charset="-122"/>
                <a:cs typeface="Yu Gothic" pitchFamily="34" charset="-120"/>
              </a:rPr>
              <a:t>オンライン化の本質は</a:t>
            </a:r>
            <a:endParaRPr lang="en-US" sz="3600" dirty="0"/>
          </a:p>
          <a:p>
            <a:pPr algn="ctr" indent="0" marL="0">
              <a:lnSpc>
                <a:spcPct val="130000"/>
              </a:lnSpc>
              <a:buNone/>
            </a:pPr>
            <a:r>
              <a:rPr lang="en-US" sz="3600" b="1" dirty="0">
                <a:solidFill>
                  <a:srgbClr val="2563EB"/>
                </a:solidFill>
                <a:latin typeface="Yu Gothic" pitchFamily="34" charset="0"/>
                <a:ea typeface="Yu Gothic" pitchFamily="34" charset="-122"/>
                <a:cs typeface="Yu Gothic" pitchFamily="34" charset="-120"/>
              </a:rPr>
              <a:t>「タイムラグ不問」の認知操作トレーニングである</a:t>
            </a:r>
            <a:endParaRPr lang="en-US" sz="3600" dirty="0"/>
          </a:p>
        </p:txBody>
      </p:sp>
      <p:sp>
        <p:nvSpPr>
          <p:cNvPr id="5" name="Text 3"/>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6" name="Text 4"/>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data-table ─ 表形式データ</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ヘッダ行 + 任意行数のデータ。下に注記（note）を任意で添えられる。</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874520"/>
          <a:ext cx="11002975" cy="914400"/>
        </p:xfrm>
        <a:graphic>
          <a:graphicData uri="http://schemas.openxmlformats.org/drawingml/2006/table">
            <a:tbl>
              <a:tblPr/>
              <a:tblGrid>
                <a:gridCol w="2926080"/>
                <a:gridCol w="2560320"/>
                <a:gridCol w="2560320"/>
                <a:gridCol w="2953512"/>
              </a:tblGrid>
              <a:tr h="594360">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563EB"/>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A 案</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563EB"/>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B 案</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563EB"/>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C 案</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563EB"/>
                    </a:solidFill>
                  </a:tcPr>
                </a:tc>
              </a:tr>
              <a:tr h="594360">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初期コスト</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低</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中</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高</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94360">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スケール性</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中</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高</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高</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594360">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立ち上げ期間</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短</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中</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長</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94360">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回収期間</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1〜2 年</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2〜3 年</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algn="l" indent="0" marL="0">
                        <a:buNone/>
                      </a:pPr>
                      <a:r>
                        <a:rPr lang="en-US" sz="1100" dirty="0">
                          <a:solidFill>
                            <a:srgbClr val="111827"/>
                          </a:solidFill>
                          <a:latin typeface="Yu Gothic" pitchFamily="34" charset="0"/>
                          <a:ea typeface="Yu Gothic" pitchFamily="34" charset="-122"/>
                          <a:cs typeface="Yu Gothic" pitchFamily="34" charset="-120"/>
                        </a:rPr>
                        <a:t>3 年以上</a:t>
                      </a:r>
                      <a:endParaRPr lang="en-US" sz="1100" dirty="0">
                        <a:latin typeface="Yu Gothic" charset="0"/>
                        <a:ea typeface="Yu Gothic" charset="0"/>
                        <a:cs typeface="Yu Gothic"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bl>
          </a:graphicData>
        </a:graphic>
      </p:graphicFrame>
      <p:sp>
        <p:nvSpPr>
          <p:cNvPr id="5" name="Text 2"/>
          <p:cNvSpPr/>
          <p:nvPr/>
        </p:nvSpPr>
        <p:spPr>
          <a:xfrm>
            <a:off x="594360" y="5074920"/>
            <a:ext cx="11002975" cy="365760"/>
          </a:xfrm>
          <a:prstGeom prst="rect">
            <a:avLst/>
          </a:prstGeom>
          <a:noFill/>
          <a:ln/>
        </p:spPr>
        <p:txBody>
          <a:bodyPr wrap="square"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 A〜C は本検討で並べた仮の選択肢。実数値は別資料を参照。</a:t>
            </a:r>
            <a:endParaRPr lang="en-US" sz="1100" dirty="0"/>
          </a:p>
        </p:txBody>
      </p:sp>
      <p:sp>
        <p:nvSpPr>
          <p:cNvPr id="6" name="Text 3"/>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テキスト系の例</a:t>
            </a:r>
            <a:endParaRPr lang="en-US" sz="900" dirty="0"/>
          </a:p>
        </p:txBody>
      </p:sp>
      <p:sp>
        <p:nvSpPr>
          <p:cNvPr id="7" name="Text 4"/>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94360" y="2103120"/>
            <a:ext cx="11002975" cy="411480"/>
          </a:xfrm>
          <a:prstGeom prst="rect">
            <a:avLst/>
          </a:prstGeom>
          <a:noFill/>
          <a:ln/>
        </p:spPr>
        <p:txBody>
          <a:bodyPr wrap="square" rtlCol="0" anchor="ctr"/>
          <a:lstStyle/>
          <a:p>
            <a:pPr algn="ctr" indent="0" marL="0">
              <a:buNone/>
            </a:pPr>
            <a:r>
              <a:rPr lang="en-US" sz="1800" b="1" dirty="0">
                <a:solidFill>
                  <a:srgbClr val="2563EB"/>
                </a:solidFill>
                <a:latin typeface="Yu Gothic" pitchFamily="34" charset="0"/>
                <a:ea typeface="Yu Gothic" pitchFamily="34" charset="-122"/>
                <a:cs typeface="Yu Gothic" pitchFamily="34" charset="-120"/>
              </a:rPr>
              <a:t>Section 2</a:t>
            </a:r>
            <a:endParaRPr lang="en-US" sz="1800" dirty="0"/>
          </a:p>
        </p:txBody>
      </p:sp>
      <p:sp>
        <p:nvSpPr>
          <p:cNvPr id="3" name="Text 1"/>
          <p:cNvSpPr/>
          <p:nvPr/>
        </p:nvSpPr>
        <p:spPr>
          <a:xfrm>
            <a:off x="594360" y="2834640"/>
            <a:ext cx="11002975" cy="1463040"/>
          </a:xfrm>
          <a:prstGeom prst="rect">
            <a:avLst/>
          </a:prstGeom>
          <a:noFill/>
          <a:ln/>
        </p:spPr>
        <p:txBody>
          <a:bodyPr wrap="square" rtlCol="0" anchor="ctr"/>
          <a:lstStyle/>
          <a:p>
            <a:pPr algn="ctr" indent="0" marL="0">
              <a:lnSpc>
                <a:spcPct val="120000"/>
              </a:lnSpc>
              <a:buNone/>
            </a:pPr>
            <a:r>
              <a:rPr lang="en-US" sz="3200" b="1" dirty="0">
                <a:solidFill>
                  <a:srgbClr val="111827"/>
                </a:solidFill>
                <a:latin typeface="Yu Gothic" pitchFamily="34" charset="0"/>
                <a:ea typeface="Yu Gothic" pitchFamily="34" charset="-122"/>
                <a:cs typeface="Yu Gothic" pitchFamily="34" charset="-120"/>
              </a:rPr>
              <a:t>比較系の kind</a:t>
            </a:r>
            <a:endParaRPr lang="en-US" sz="3200" dirty="0"/>
          </a:p>
        </p:txBody>
      </p:sp>
      <p:sp>
        <p:nvSpPr>
          <p:cNvPr id="4" name="Text 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cards ─ 2 枚配置: 2 主体の対比（中立）</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cards を 2 件にすると左右対比レイアウトになる。左 6 件・右 4 件で件数差のあるケースを確認する。</a:t>
            </a:r>
            <a:endParaRPr lang="en-US" sz="1300" dirty="0"/>
          </a:p>
        </p:txBody>
      </p:sp>
      <p:sp>
        <p:nvSpPr>
          <p:cNvPr id="4" name="Shape 2"/>
          <p:cNvSpPr/>
          <p:nvPr/>
        </p:nvSpPr>
        <p:spPr>
          <a:xfrm>
            <a:off x="594360" y="2120646"/>
            <a:ext cx="5364328" cy="3942588"/>
          </a:xfrm>
          <a:prstGeom prst="rect">
            <a:avLst/>
          </a:prstGeom>
          <a:solidFill>
            <a:srgbClr val="F9FAFB"/>
          </a:solidFill>
          <a:ln/>
        </p:spPr>
      </p:sp>
      <p:sp>
        <p:nvSpPr>
          <p:cNvPr id="5" name="Text 3"/>
          <p:cNvSpPr/>
          <p:nvPr/>
        </p:nvSpPr>
        <p:spPr>
          <a:xfrm>
            <a:off x="758952" y="2321814"/>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案 A</a:t>
            </a:r>
            <a:endParaRPr lang="en-US" sz="1300" dirty="0"/>
          </a:p>
        </p:txBody>
      </p:sp>
      <p:sp>
        <p:nvSpPr>
          <p:cNvPr id="6" name="Text 4"/>
          <p:cNvSpPr/>
          <p:nvPr/>
        </p:nvSpPr>
        <p:spPr>
          <a:xfrm>
            <a:off x="758952" y="2815590"/>
            <a:ext cx="5035144"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強み: 既存資産を活かせる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強み: 学習コストが低く既存メンバーで運用可能</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強み: 短期で結果を出しやすい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弱み: 拡張性に難</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弱み: 横展開時に重複コードが発生しやすい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適用: 既存基盤と密結合した機能の改修</a:t>
            </a:r>
            <a:endParaRPr lang="en-US" sz="1300" dirty="0"/>
          </a:p>
        </p:txBody>
      </p:sp>
      <p:sp>
        <p:nvSpPr>
          <p:cNvPr id="7" name="Shape 5"/>
          <p:cNvSpPr/>
          <p:nvPr/>
        </p:nvSpPr>
        <p:spPr>
          <a:xfrm>
            <a:off x="6233008" y="2120646"/>
            <a:ext cx="5364328" cy="3942588"/>
          </a:xfrm>
          <a:prstGeom prst="rect">
            <a:avLst/>
          </a:prstGeom>
          <a:solidFill>
            <a:srgbClr val="F9FAFB"/>
          </a:solidFill>
          <a:ln/>
        </p:spPr>
      </p:sp>
      <p:sp>
        <p:nvSpPr>
          <p:cNvPr id="8" name="Text 6"/>
          <p:cNvSpPr/>
          <p:nvPr/>
        </p:nvSpPr>
        <p:spPr>
          <a:xfrm>
            <a:off x="6397600" y="2321814"/>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案 B</a:t>
            </a:r>
            <a:endParaRPr lang="en-US" sz="1300" dirty="0"/>
          </a:p>
        </p:txBody>
      </p:sp>
      <p:sp>
        <p:nvSpPr>
          <p:cNvPr id="9" name="Text 7"/>
          <p:cNvSpPr/>
          <p:nvPr/>
        </p:nvSpPr>
        <p:spPr>
          <a:xfrm>
            <a:off x="6397600" y="2815590"/>
            <a:ext cx="5035144"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強み: アーキテクチャがクリーン</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弱み: 立ち上げ工数が大きい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適用: 中長期の運用を前提とする場面</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適用: 複数チームで分担して開発する場面</a:t>
            </a:r>
            <a:endParaRPr lang="en-US" sz="1300" dirty="0"/>
          </a:p>
        </p:txBody>
      </p:sp>
      <p:sp>
        <p:nvSpPr>
          <p:cNvPr id="10" name="Text 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11" name="Text 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cards ─ 2 枚配置: ポジ／ネガで色分け</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variant に pos / neg / accent を指定するとカラーバリエーションが切り替わる。左 3 件・右 5 件で件数差のあるケースを確認する。</a:t>
            </a:r>
            <a:endParaRPr lang="en-US" sz="1300" dirty="0"/>
          </a:p>
        </p:txBody>
      </p:sp>
      <p:sp>
        <p:nvSpPr>
          <p:cNvPr id="4" name="Shape 2"/>
          <p:cNvSpPr/>
          <p:nvPr/>
        </p:nvSpPr>
        <p:spPr>
          <a:xfrm>
            <a:off x="594360" y="2384679"/>
            <a:ext cx="5364328" cy="3414522"/>
          </a:xfrm>
          <a:prstGeom prst="rect">
            <a:avLst/>
          </a:prstGeom>
          <a:solidFill>
            <a:srgbClr val="ECFDF5"/>
          </a:solidFill>
          <a:ln/>
        </p:spPr>
      </p:sp>
      <p:sp>
        <p:nvSpPr>
          <p:cNvPr id="5" name="Text 3"/>
          <p:cNvSpPr/>
          <p:nvPr/>
        </p:nvSpPr>
        <p:spPr>
          <a:xfrm>
            <a:off x="758952" y="2585847"/>
            <a:ext cx="5035144" cy="256032"/>
          </a:xfrm>
          <a:prstGeom prst="rect">
            <a:avLst/>
          </a:prstGeom>
          <a:noFill/>
          <a:ln/>
        </p:spPr>
        <p:txBody>
          <a:bodyPr wrap="square" rtlCol="0" anchor="t"/>
          <a:lstStyle/>
          <a:p>
            <a:pPr indent="0" marL="0">
              <a:buNone/>
            </a:pPr>
            <a:r>
              <a:rPr lang="en-US" sz="1300" b="1" dirty="0">
                <a:solidFill>
                  <a:srgbClr val="10B981"/>
                </a:solidFill>
                <a:latin typeface="Yu Gothic" pitchFamily="34" charset="0"/>
                <a:ea typeface="Yu Gothic" pitchFamily="34" charset="-122"/>
                <a:cs typeface="Yu Gothic" pitchFamily="34" charset="-120"/>
              </a:rPr>
              <a:t>良い側面</a:t>
            </a:r>
            <a:endParaRPr lang="en-US" sz="1300" dirty="0"/>
          </a:p>
        </p:txBody>
      </p:sp>
      <p:sp>
        <p:nvSpPr>
          <p:cNvPr id="6" name="Text 4"/>
          <p:cNvSpPr/>
          <p:nvPr/>
        </p:nvSpPr>
        <p:spPr>
          <a:xfrm>
            <a:off x="758952" y="3079623"/>
            <a:ext cx="5035144" cy="2335530"/>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学習コストが低い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既存システムと衝突しない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段階的に導入できる</a:t>
            </a:r>
            <a:endParaRPr lang="en-US" sz="1300" dirty="0"/>
          </a:p>
        </p:txBody>
      </p:sp>
      <p:sp>
        <p:nvSpPr>
          <p:cNvPr id="7" name="Shape 5"/>
          <p:cNvSpPr/>
          <p:nvPr/>
        </p:nvSpPr>
        <p:spPr>
          <a:xfrm>
            <a:off x="6233008" y="2384679"/>
            <a:ext cx="5364328" cy="3414522"/>
          </a:xfrm>
          <a:prstGeom prst="rect">
            <a:avLst/>
          </a:prstGeom>
          <a:solidFill>
            <a:srgbClr val="FEF2F2"/>
          </a:solidFill>
          <a:ln/>
        </p:spPr>
      </p:sp>
      <p:sp>
        <p:nvSpPr>
          <p:cNvPr id="8" name="Text 6"/>
          <p:cNvSpPr/>
          <p:nvPr/>
        </p:nvSpPr>
        <p:spPr>
          <a:xfrm>
            <a:off x="6397600" y="2585847"/>
            <a:ext cx="5035144" cy="256032"/>
          </a:xfrm>
          <a:prstGeom prst="rect">
            <a:avLst/>
          </a:prstGeom>
          <a:noFill/>
          <a:ln/>
        </p:spPr>
        <p:txBody>
          <a:bodyPr wrap="square" rtlCol="0" anchor="t"/>
          <a:lstStyle/>
          <a:p>
            <a:pPr indent="0" marL="0">
              <a:buNone/>
            </a:pPr>
            <a:r>
              <a:rPr lang="en-US" sz="1300" b="1" dirty="0">
                <a:solidFill>
                  <a:srgbClr val="EF4444"/>
                </a:solidFill>
                <a:latin typeface="Yu Gothic" pitchFamily="34" charset="0"/>
                <a:ea typeface="Yu Gothic" pitchFamily="34" charset="-122"/>
                <a:cs typeface="Yu Gothic" pitchFamily="34" charset="-120"/>
              </a:rPr>
              <a:t>懸念点</a:t>
            </a:r>
            <a:endParaRPr lang="en-US" sz="1300" dirty="0"/>
          </a:p>
        </p:txBody>
      </p:sp>
      <p:sp>
        <p:nvSpPr>
          <p:cNvPr id="9" name="Text 7"/>
          <p:cNvSpPr/>
          <p:nvPr/>
        </p:nvSpPr>
        <p:spPr>
          <a:xfrm>
            <a:off x="6397600" y="3079623"/>
            <a:ext cx="5035144" cy="2335530"/>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長期メンテで属人化しやすい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他資料との表現が不揃いになる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コーポレートテーマの刷新時に追従が困難</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レビュー時のチェックポイントが増える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障害発生時の原因切り分けが難しくなる</a:t>
            </a:r>
            <a:endParaRPr lang="en-US" sz="1300" dirty="0"/>
          </a:p>
        </p:txBody>
      </p:sp>
      <p:sp>
        <p:nvSpPr>
          <p:cNvPr id="10" name="Text 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11" name="Text 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cards ─ 3 枚配置: 並列観点（既定: 全カード gray）</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cards を 3 件にすると並列観点の横並びレイアウトになる。variant 未指定で全カードが gray になる。</a:t>
            </a:r>
            <a:endParaRPr lang="en-US" sz="1300" dirty="0"/>
          </a:p>
        </p:txBody>
      </p:sp>
      <p:sp>
        <p:nvSpPr>
          <p:cNvPr id="4" name="Shape 2"/>
          <p:cNvSpPr/>
          <p:nvPr/>
        </p:nvSpPr>
        <p:spPr>
          <a:xfrm>
            <a:off x="594360" y="2450592"/>
            <a:ext cx="3582314" cy="2358390"/>
          </a:xfrm>
          <a:prstGeom prst="rect">
            <a:avLst/>
          </a:prstGeom>
          <a:solidFill>
            <a:srgbClr val="F9FAFB"/>
          </a:solidFill>
          <a:ln/>
        </p:spPr>
      </p:sp>
      <p:sp>
        <p:nvSpPr>
          <p:cNvPr id="5" name="Text 3"/>
          <p:cNvSpPr/>
          <p:nvPr/>
        </p:nvSpPr>
        <p:spPr>
          <a:xfrm>
            <a:off x="758952" y="2651760"/>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観点 1: 速度</a:t>
            </a:r>
            <a:endParaRPr lang="en-US" sz="1300" dirty="0"/>
          </a:p>
        </p:txBody>
      </p:sp>
      <p:sp>
        <p:nvSpPr>
          <p:cNvPr id="6" name="Text 4"/>
          <p:cNvSpPr/>
          <p:nvPr/>
        </p:nvSpPr>
        <p:spPr>
          <a:xfrm>
            <a:off x="758952"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立ち上げが早い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市場投入が早い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PoC で検証しやすい</a:t>
            </a:r>
            <a:endParaRPr lang="en-US" sz="1300" dirty="0"/>
          </a:p>
        </p:txBody>
      </p:sp>
      <p:sp>
        <p:nvSpPr>
          <p:cNvPr id="7" name="Shape 5"/>
          <p:cNvSpPr/>
          <p:nvPr/>
        </p:nvSpPr>
        <p:spPr>
          <a:xfrm>
            <a:off x="4304690" y="2450592"/>
            <a:ext cx="3582314" cy="2358390"/>
          </a:xfrm>
          <a:prstGeom prst="rect">
            <a:avLst/>
          </a:prstGeom>
          <a:solidFill>
            <a:srgbClr val="F9FAFB"/>
          </a:solidFill>
          <a:ln/>
        </p:spPr>
      </p:sp>
      <p:sp>
        <p:nvSpPr>
          <p:cNvPr id="8" name="Text 6"/>
          <p:cNvSpPr/>
          <p:nvPr/>
        </p:nvSpPr>
        <p:spPr>
          <a:xfrm>
            <a:off x="4469282" y="2651760"/>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観点 2: 品質</a:t>
            </a:r>
            <a:endParaRPr lang="en-US" sz="1300" dirty="0"/>
          </a:p>
        </p:txBody>
      </p:sp>
      <p:sp>
        <p:nvSpPr>
          <p:cNvPr id="9" name="Text 7"/>
          <p:cNvSpPr/>
          <p:nvPr/>
        </p:nvSpPr>
        <p:spPr>
          <a:xfrm>
            <a:off x="4469282"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保守容易性が高い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テストカバレッジ確保</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障害復旧時間が短い</a:t>
            </a:r>
            <a:endParaRPr lang="en-US" sz="1300" dirty="0"/>
          </a:p>
        </p:txBody>
      </p:sp>
      <p:sp>
        <p:nvSpPr>
          <p:cNvPr id="10" name="Shape 8"/>
          <p:cNvSpPr/>
          <p:nvPr/>
        </p:nvSpPr>
        <p:spPr>
          <a:xfrm>
            <a:off x="8015021" y="2450592"/>
            <a:ext cx="3582314" cy="2358390"/>
          </a:xfrm>
          <a:prstGeom prst="rect">
            <a:avLst/>
          </a:prstGeom>
          <a:solidFill>
            <a:srgbClr val="F9FAFB"/>
          </a:solidFill>
          <a:ln/>
        </p:spPr>
      </p:sp>
      <p:sp>
        <p:nvSpPr>
          <p:cNvPr id="11" name="Text 9"/>
          <p:cNvSpPr/>
          <p:nvPr/>
        </p:nvSpPr>
        <p:spPr>
          <a:xfrm>
            <a:off x="8179613" y="2651760"/>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観点 3: コスト</a:t>
            </a:r>
            <a:endParaRPr lang="en-US" sz="1300" dirty="0"/>
          </a:p>
        </p:txBody>
      </p:sp>
      <p:sp>
        <p:nvSpPr>
          <p:cNvPr id="12" name="Text 10"/>
          <p:cNvSpPr/>
          <p:nvPr/>
        </p:nvSpPr>
        <p:spPr>
          <a:xfrm>
            <a:off x="8179613"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初期投資が小さい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運用負荷が低い</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段階的な拡張が可能</a:t>
            </a:r>
            <a:endParaRPr lang="en-US" sz="1300" dirty="0"/>
          </a:p>
        </p:txBody>
      </p:sp>
      <p:sp>
        <p:nvSpPr>
          <p:cNvPr id="13" name="Text 11"/>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14" name="Text 1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cards ─ 3 枚配置: 最右に強調を入れるパターン</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並列観点の先に結論を置くケース。最右カードにのみ variant を指定する（accent / pos / neg）。</a:t>
            </a:r>
            <a:endParaRPr lang="en-US" sz="1300" dirty="0"/>
          </a:p>
        </p:txBody>
      </p:sp>
      <p:sp>
        <p:nvSpPr>
          <p:cNvPr id="4" name="Shape 2"/>
          <p:cNvSpPr/>
          <p:nvPr/>
        </p:nvSpPr>
        <p:spPr>
          <a:xfrm>
            <a:off x="594360" y="2450592"/>
            <a:ext cx="3582314" cy="2358390"/>
          </a:xfrm>
          <a:prstGeom prst="rect">
            <a:avLst/>
          </a:prstGeom>
          <a:solidFill>
            <a:srgbClr val="F9FAFB"/>
          </a:solidFill>
          <a:ln/>
        </p:spPr>
      </p:sp>
      <p:sp>
        <p:nvSpPr>
          <p:cNvPr id="5" name="Text 3"/>
          <p:cNvSpPr/>
          <p:nvPr/>
        </p:nvSpPr>
        <p:spPr>
          <a:xfrm>
            <a:off x="758952" y="2651760"/>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問題 1: 立ち上がりの遅さ</a:t>
            </a:r>
            <a:endParaRPr lang="en-US" sz="1300" dirty="0"/>
          </a:p>
        </p:txBody>
      </p:sp>
      <p:sp>
        <p:nvSpPr>
          <p:cNvPr id="6" name="Text 4"/>
          <p:cNvSpPr/>
          <p:nvPr/>
        </p:nvSpPr>
        <p:spPr>
          <a:xfrm>
            <a:off x="758952"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設計フェーズが長引く</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意思決定のラグが大きい</a:t>
            </a:r>
            <a:endParaRPr lang="en-US" sz="1300" dirty="0"/>
          </a:p>
        </p:txBody>
      </p:sp>
      <p:sp>
        <p:nvSpPr>
          <p:cNvPr id="7" name="Shape 5"/>
          <p:cNvSpPr/>
          <p:nvPr/>
        </p:nvSpPr>
        <p:spPr>
          <a:xfrm>
            <a:off x="4304690" y="2450592"/>
            <a:ext cx="3582314" cy="2358390"/>
          </a:xfrm>
          <a:prstGeom prst="rect">
            <a:avLst/>
          </a:prstGeom>
          <a:solidFill>
            <a:srgbClr val="F9FAFB"/>
          </a:solidFill>
          <a:ln/>
        </p:spPr>
      </p:sp>
      <p:sp>
        <p:nvSpPr>
          <p:cNvPr id="8" name="Text 6"/>
          <p:cNvSpPr/>
          <p:nvPr/>
        </p:nvSpPr>
        <p:spPr>
          <a:xfrm>
            <a:off x="4469282" y="2651760"/>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問題 2: 属人化</a:t>
            </a:r>
            <a:endParaRPr lang="en-US" sz="1300" dirty="0"/>
          </a:p>
        </p:txBody>
      </p:sp>
      <p:sp>
        <p:nvSpPr>
          <p:cNvPr id="9" name="Text 7"/>
          <p:cNvSpPr/>
          <p:nvPr/>
        </p:nvSpPr>
        <p:spPr>
          <a:xfrm>
            <a:off x="4469282"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特定メンバーへの依存</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知識共有が進まない</a:t>
            </a:r>
            <a:endParaRPr lang="en-US" sz="1300" dirty="0"/>
          </a:p>
        </p:txBody>
      </p:sp>
      <p:sp>
        <p:nvSpPr>
          <p:cNvPr id="10" name="Shape 8"/>
          <p:cNvSpPr/>
          <p:nvPr/>
        </p:nvSpPr>
        <p:spPr>
          <a:xfrm>
            <a:off x="8015021" y="2450592"/>
            <a:ext cx="3582314" cy="2358390"/>
          </a:xfrm>
          <a:prstGeom prst="rect">
            <a:avLst/>
          </a:prstGeom>
          <a:solidFill>
            <a:srgbClr val="EFF6FF"/>
          </a:solidFill>
          <a:ln/>
        </p:spPr>
      </p:sp>
      <p:sp>
        <p:nvSpPr>
          <p:cNvPr id="11" name="Text 9"/>
          <p:cNvSpPr/>
          <p:nvPr/>
        </p:nvSpPr>
        <p:spPr>
          <a:xfrm>
            <a:off x="8179613" y="2651760"/>
            <a:ext cx="3253130"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結論: 軽量プロセスで段階導入</a:t>
            </a:r>
            <a:endParaRPr lang="en-US" sz="1300" dirty="0"/>
          </a:p>
        </p:txBody>
      </p:sp>
      <p:sp>
        <p:nvSpPr>
          <p:cNvPr id="12" name="Text 10"/>
          <p:cNvSpPr/>
          <p:nvPr/>
        </p:nvSpPr>
        <p:spPr>
          <a:xfrm>
            <a:off x="8179613" y="3145536"/>
            <a:ext cx="3253130" cy="1279398"/>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MVP を 2 週間でリリース</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PR レビュー必須化で知識を共有</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ADR で意思決定の根拠を残す</a:t>
            </a:r>
            <a:endParaRPr lang="en-US" sz="1300" dirty="0"/>
          </a:p>
        </p:txBody>
      </p:sp>
      <p:sp>
        <p:nvSpPr>
          <p:cNvPr id="13" name="Text 11"/>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14" name="Text 1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panel-cards ─ ポジ／ネガで色分け</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variant に pos / neg / accent を指定するとカードの色が切り替わる。左 3 件・右 5 件で件数差のあるケースを確認する。最長 item が 17 字を超えるとカード幅は自動でスライド端に向かって広がる（最大 25 字）。</a:t>
            </a:r>
            <a:endParaRPr lang="en-US" sz="1300" dirty="0"/>
          </a:p>
        </p:txBody>
      </p:sp>
      <p:sp>
        <p:nvSpPr>
          <p:cNvPr id="4" name="Shape 2"/>
          <p:cNvSpPr/>
          <p:nvPr/>
        </p:nvSpPr>
        <p:spPr>
          <a:xfrm>
            <a:off x="1966874" y="2450592"/>
            <a:ext cx="3701491" cy="502920"/>
          </a:xfrm>
          <a:prstGeom prst="rect">
            <a:avLst/>
          </a:prstGeom>
          <a:solidFill>
            <a:srgbClr val="10B981"/>
          </a:solidFill>
          <a:ln/>
        </p:spPr>
      </p:sp>
      <p:sp>
        <p:nvSpPr>
          <p:cNvPr id="5" name="Text 3"/>
          <p:cNvSpPr/>
          <p:nvPr/>
        </p:nvSpPr>
        <p:spPr>
          <a:xfrm>
            <a:off x="1966874" y="2450592"/>
            <a:ext cx="3701491"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良い側面</a:t>
            </a:r>
            <a:endParaRPr lang="en-US" sz="1300" dirty="0"/>
          </a:p>
        </p:txBody>
      </p:sp>
      <p:sp>
        <p:nvSpPr>
          <p:cNvPr id="6" name="Shape 4"/>
          <p:cNvSpPr/>
          <p:nvPr/>
        </p:nvSpPr>
        <p:spPr>
          <a:xfrm>
            <a:off x="1966874" y="2953512"/>
            <a:ext cx="3701491" cy="2514600"/>
          </a:xfrm>
          <a:prstGeom prst="rect">
            <a:avLst/>
          </a:prstGeom>
          <a:solidFill>
            <a:srgbClr val="FFFFFF"/>
          </a:solidFill>
          <a:ln w="6350">
            <a:solidFill>
              <a:srgbClr val="10B981"/>
            </a:solidFill>
            <a:prstDash val="solid"/>
          </a:ln>
        </p:spPr>
      </p:sp>
      <p:sp>
        <p:nvSpPr>
          <p:cNvPr id="7" name="Text 5"/>
          <p:cNvSpPr/>
          <p:nvPr/>
        </p:nvSpPr>
        <p:spPr>
          <a:xfrm>
            <a:off x="2149754" y="295351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学習コストが低い</a:t>
            </a:r>
            <a:endParaRPr lang="en-US" sz="1200" dirty="0"/>
          </a:p>
        </p:txBody>
      </p:sp>
      <p:sp>
        <p:nvSpPr>
          <p:cNvPr id="8" name="Text 6"/>
          <p:cNvSpPr/>
          <p:nvPr/>
        </p:nvSpPr>
        <p:spPr>
          <a:xfrm>
            <a:off x="2149754" y="345643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既存システムと衝突しない</a:t>
            </a:r>
            <a:endParaRPr lang="en-US" sz="1200" dirty="0"/>
          </a:p>
        </p:txBody>
      </p:sp>
      <p:sp>
        <p:nvSpPr>
          <p:cNvPr id="9" name="Text 7"/>
          <p:cNvSpPr/>
          <p:nvPr/>
        </p:nvSpPr>
        <p:spPr>
          <a:xfrm>
            <a:off x="2149754" y="395935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段階的に導入できる</a:t>
            </a:r>
            <a:endParaRPr lang="en-US" sz="1200" dirty="0"/>
          </a:p>
        </p:txBody>
      </p:sp>
      <p:sp>
        <p:nvSpPr>
          <p:cNvPr id="10" name="Shape 8"/>
          <p:cNvSpPr/>
          <p:nvPr/>
        </p:nvSpPr>
        <p:spPr>
          <a:xfrm>
            <a:off x="2149754" y="3452774"/>
            <a:ext cx="3335731" cy="7315"/>
          </a:xfrm>
          <a:prstGeom prst="rect">
            <a:avLst/>
          </a:prstGeom>
          <a:solidFill>
            <a:srgbClr val="D1D5DB"/>
          </a:solidFill>
          <a:ln/>
        </p:spPr>
      </p:sp>
      <p:sp>
        <p:nvSpPr>
          <p:cNvPr id="11" name="Shape 9"/>
          <p:cNvSpPr/>
          <p:nvPr/>
        </p:nvSpPr>
        <p:spPr>
          <a:xfrm>
            <a:off x="2149754" y="3955694"/>
            <a:ext cx="3335731" cy="7315"/>
          </a:xfrm>
          <a:prstGeom prst="rect">
            <a:avLst/>
          </a:prstGeom>
          <a:solidFill>
            <a:srgbClr val="D1D5DB"/>
          </a:solidFill>
          <a:ln/>
        </p:spPr>
      </p:sp>
      <p:sp>
        <p:nvSpPr>
          <p:cNvPr id="12" name="Shape 10"/>
          <p:cNvSpPr/>
          <p:nvPr/>
        </p:nvSpPr>
        <p:spPr>
          <a:xfrm>
            <a:off x="2149754" y="4458614"/>
            <a:ext cx="3335731" cy="7315"/>
          </a:xfrm>
          <a:prstGeom prst="rect">
            <a:avLst/>
          </a:prstGeom>
          <a:solidFill>
            <a:srgbClr val="D1D5DB"/>
          </a:solidFill>
          <a:ln/>
        </p:spPr>
      </p:sp>
      <p:sp>
        <p:nvSpPr>
          <p:cNvPr id="13" name="Shape 11"/>
          <p:cNvSpPr/>
          <p:nvPr/>
        </p:nvSpPr>
        <p:spPr>
          <a:xfrm>
            <a:off x="2149754" y="4961534"/>
            <a:ext cx="3335731" cy="7315"/>
          </a:xfrm>
          <a:prstGeom prst="rect">
            <a:avLst/>
          </a:prstGeom>
          <a:solidFill>
            <a:srgbClr val="D1D5DB"/>
          </a:solidFill>
          <a:ln/>
        </p:spPr>
      </p:sp>
      <p:sp>
        <p:nvSpPr>
          <p:cNvPr id="14" name="Shape 12"/>
          <p:cNvSpPr/>
          <p:nvPr/>
        </p:nvSpPr>
        <p:spPr>
          <a:xfrm>
            <a:off x="6523330" y="2450592"/>
            <a:ext cx="3701491" cy="502920"/>
          </a:xfrm>
          <a:prstGeom prst="rect">
            <a:avLst/>
          </a:prstGeom>
          <a:solidFill>
            <a:srgbClr val="EF4444"/>
          </a:solidFill>
          <a:ln/>
        </p:spPr>
      </p:sp>
      <p:sp>
        <p:nvSpPr>
          <p:cNvPr id="15" name="Text 13"/>
          <p:cNvSpPr/>
          <p:nvPr/>
        </p:nvSpPr>
        <p:spPr>
          <a:xfrm>
            <a:off x="6523330" y="2450592"/>
            <a:ext cx="3701491"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懸念点</a:t>
            </a:r>
            <a:endParaRPr lang="en-US" sz="1300" dirty="0"/>
          </a:p>
        </p:txBody>
      </p:sp>
      <p:sp>
        <p:nvSpPr>
          <p:cNvPr id="16" name="Shape 14"/>
          <p:cNvSpPr/>
          <p:nvPr/>
        </p:nvSpPr>
        <p:spPr>
          <a:xfrm>
            <a:off x="6523330" y="2953512"/>
            <a:ext cx="3701491" cy="2514600"/>
          </a:xfrm>
          <a:prstGeom prst="rect">
            <a:avLst/>
          </a:prstGeom>
          <a:solidFill>
            <a:srgbClr val="FFFFFF"/>
          </a:solidFill>
          <a:ln w="6350">
            <a:solidFill>
              <a:srgbClr val="EF4444"/>
            </a:solidFill>
            <a:prstDash val="solid"/>
          </a:ln>
        </p:spPr>
      </p:sp>
      <p:sp>
        <p:nvSpPr>
          <p:cNvPr id="17" name="Text 15"/>
          <p:cNvSpPr/>
          <p:nvPr/>
        </p:nvSpPr>
        <p:spPr>
          <a:xfrm>
            <a:off x="6706210" y="295351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長期メンテで属人化しやすい</a:t>
            </a:r>
            <a:endParaRPr lang="en-US" sz="1200" dirty="0"/>
          </a:p>
        </p:txBody>
      </p:sp>
      <p:sp>
        <p:nvSpPr>
          <p:cNvPr id="18" name="Text 16"/>
          <p:cNvSpPr/>
          <p:nvPr/>
        </p:nvSpPr>
        <p:spPr>
          <a:xfrm>
            <a:off x="6706210" y="345643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他資料との表現が不揃いになる</a:t>
            </a:r>
            <a:endParaRPr lang="en-US" sz="1200" dirty="0"/>
          </a:p>
        </p:txBody>
      </p:sp>
      <p:sp>
        <p:nvSpPr>
          <p:cNvPr id="19" name="Text 17"/>
          <p:cNvSpPr/>
          <p:nvPr/>
        </p:nvSpPr>
        <p:spPr>
          <a:xfrm>
            <a:off x="6706210" y="395935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コーポレートテーマの刷新時に追従が困難</a:t>
            </a:r>
            <a:endParaRPr lang="en-US" sz="1200" dirty="0"/>
          </a:p>
        </p:txBody>
      </p:sp>
      <p:sp>
        <p:nvSpPr>
          <p:cNvPr id="20" name="Text 18"/>
          <p:cNvSpPr/>
          <p:nvPr/>
        </p:nvSpPr>
        <p:spPr>
          <a:xfrm>
            <a:off x="6706210" y="446227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レビュー時のチェックポイントが増える</a:t>
            </a:r>
            <a:endParaRPr lang="en-US" sz="1200" dirty="0"/>
          </a:p>
        </p:txBody>
      </p:sp>
      <p:sp>
        <p:nvSpPr>
          <p:cNvPr id="21" name="Text 19"/>
          <p:cNvSpPr/>
          <p:nvPr/>
        </p:nvSpPr>
        <p:spPr>
          <a:xfrm>
            <a:off x="6706210" y="4965192"/>
            <a:ext cx="3335731"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障害発生時の原因切り分けが難しくなる</a:t>
            </a:r>
            <a:endParaRPr lang="en-US" sz="1200" dirty="0"/>
          </a:p>
        </p:txBody>
      </p:sp>
      <p:sp>
        <p:nvSpPr>
          <p:cNvPr id="22" name="Shape 20"/>
          <p:cNvSpPr/>
          <p:nvPr/>
        </p:nvSpPr>
        <p:spPr>
          <a:xfrm>
            <a:off x="6706210" y="3452774"/>
            <a:ext cx="3335731" cy="7315"/>
          </a:xfrm>
          <a:prstGeom prst="rect">
            <a:avLst/>
          </a:prstGeom>
          <a:solidFill>
            <a:srgbClr val="D1D5DB"/>
          </a:solidFill>
          <a:ln/>
        </p:spPr>
      </p:sp>
      <p:sp>
        <p:nvSpPr>
          <p:cNvPr id="23" name="Shape 21"/>
          <p:cNvSpPr/>
          <p:nvPr/>
        </p:nvSpPr>
        <p:spPr>
          <a:xfrm>
            <a:off x="6706210" y="3955694"/>
            <a:ext cx="3335731" cy="7315"/>
          </a:xfrm>
          <a:prstGeom prst="rect">
            <a:avLst/>
          </a:prstGeom>
          <a:solidFill>
            <a:srgbClr val="D1D5DB"/>
          </a:solidFill>
          <a:ln/>
        </p:spPr>
      </p:sp>
      <p:sp>
        <p:nvSpPr>
          <p:cNvPr id="24" name="Shape 22"/>
          <p:cNvSpPr/>
          <p:nvPr/>
        </p:nvSpPr>
        <p:spPr>
          <a:xfrm>
            <a:off x="6706210" y="4458614"/>
            <a:ext cx="3335731" cy="7315"/>
          </a:xfrm>
          <a:prstGeom prst="rect">
            <a:avLst/>
          </a:prstGeom>
          <a:solidFill>
            <a:srgbClr val="D1D5DB"/>
          </a:solidFill>
          <a:ln/>
        </p:spPr>
      </p:sp>
      <p:sp>
        <p:nvSpPr>
          <p:cNvPr id="25" name="Shape 23"/>
          <p:cNvSpPr/>
          <p:nvPr/>
        </p:nvSpPr>
        <p:spPr>
          <a:xfrm>
            <a:off x="6706210" y="4961534"/>
            <a:ext cx="3335731" cy="7315"/>
          </a:xfrm>
          <a:prstGeom prst="rect">
            <a:avLst/>
          </a:prstGeom>
          <a:solidFill>
            <a:srgbClr val="D1D5DB"/>
          </a:solidFill>
          <a:ln/>
        </p:spPr>
      </p:sp>
      <p:sp>
        <p:nvSpPr>
          <p:cNvPr id="26" name="Text 24"/>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27" name="Text 25"/>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panel-cards ─ cards 3 枚と同一内容の比較</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上の cards 3 枚スライドと同じ並列観点（速度 / 品質 / コスト）を panel-cards で描いた版。タイトル帯と区切り線で「項目を読む」前提のレイアウトに切り替わる。</a:t>
            </a:r>
            <a:endParaRPr lang="en-US" sz="1300" dirty="0"/>
          </a:p>
        </p:txBody>
      </p:sp>
      <p:sp>
        <p:nvSpPr>
          <p:cNvPr id="4" name="Shape 2"/>
          <p:cNvSpPr/>
          <p:nvPr/>
        </p:nvSpPr>
        <p:spPr>
          <a:xfrm>
            <a:off x="594360" y="2450592"/>
            <a:ext cx="3496970" cy="502920"/>
          </a:xfrm>
          <a:prstGeom prst="rect">
            <a:avLst/>
          </a:prstGeom>
          <a:solidFill>
            <a:srgbClr val="2563EB"/>
          </a:solidFill>
          <a:ln/>
        </p:spPr>
      </p:sp>
      <p:sp>
        <p:nvSpPr>
          <p:cNvPr id="5" name="Text 3"/>
          <p:cNvSpPr/>
          <p:nvPr/>
        </p:nvSpPr>
        <p:spPr>
          <a:xfrm>
            <a:off x="594360"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1: 速度</a:t>
            </a:r>
            <a:endParaRPr lang="en-US" sz="1300" dirty="0"/>
          </a:p>
        </p:txBody>
      </p:sp>
      <p:sp>
        <p:nvSpPr>
          <p:cNvPr id="6" name="Shape 4"/>
          <p:cNvSpPr/>
          <p:nvPr/>
        </p:nvSpPr>
        <p:spPr>
          <a:xfrm>
            <a:off x="594360" y="2953512"/>
            <a:ext cx="3496970" cy="1508760"/>
          </a:xfrm>
          <a:prstGeom prst="rect">
            <a:avLst/>
          </a:prstGeom>
          <a:solidFill>
            <a:srgbClr val="FFFFFF"/>
          </a:solidFill>
          <a:ln w="6350">
            <a:solidFill>
              <a:srgbClr val="D1D5DB"/>
            </a:solidFill>
            <a:prstDash val="solid"/>
          </a:ln>
        </p:spPr>
      </p:sp>
      <p:sp>
        <p:nvSpPr>
          <p:cNvPr id="7" name="Text 5"/>
          <p:cNvSpPr/>
          <p:nvPr/>
        </p:nvSpPr>
        <p:spPr>
          <a:xfrm>
            <a:off x="777240" y="295351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立ち上げが早い</a:t>
            </a:r>
            <a:endParaRPr lang="en-US" sz="1200" dirty="0"/>
          </a:p>
        </p:txBody>
      </p:sp>
      <p:sp>
        <p:nvSpPr>
          <p:cNvPr id="8" name="Text 6"/>
          <p:cNvSpPr/>
          <p:nvPr/>
        </p:nvSpPr>
        <p:spPr>
          <a:xfrm>
            <a:off x="777240" y="345643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市場投入が早い</a:t>
            </a:r>
            <a:endParaRPr lang="en-US" sz="1200" dirty="0"/>
          </a:p>
        </p:txBody>
      </p:sp>
      <p:sp>
        <p:nvSpPr>
          <p:cNvPr id="9" name="Text 7"/>
          <p:cNvSpPr/>
          <p:nvPr/>
        </p:nvSpPr>
        <p:spPr>
          <a:xfrm>
            <a:off x="777240" y="395935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PoC で検証しやすい</a:t>
            </a:r>
            <a:endParaRPr lang="en-US" sz="1200" dirty="0"/>
          </a:p>
        </p:txBody>
      </p:sp>
      <p:sp>
        <p:nvSpPr>
          <p:cNvPr id="10" name="Shape 8"/>
          <p:cNvSpPr/>
          <p:nvPr/>
        </p:nvSpPr>
        <p:spPr>
          <a:xfrm>
            <a:off x="777240" y="3452774"/>
            <a:ext cx="3131210" cy="7315"/>
          </a:xfrm>
          <a:prstGeom prst="rect">
            <a:avLst/>
          </a:prstGeom>
          <a:solidFill>
            <a:srgbClr val="D1D5DB"/>
          </a:solidFill>
          <a:ln/>
        </p:spPr>
      </p:sp>
      <p:sp>
        <p:nvSpPr>
          <p:cNvPr id="11" name="Shape 9"/>
          <p:cNvSpPr/>
          <p:nvPr/>
        </p:nvSpPr>
        <p:spPr>
          <a:xfrm>
            <a:off x="777240" y="3955694"/>
            <a:ext cx="3131210" cy="7315"/>
          </a:xfrm>
          <a:prstGeom prst="rect">
            <a:avLst/>
          </a:prstGeom>
          <a:solidFill>
            <a:srgbClr val="D1D5DB"/>
          </a:solidFill>
          <a:ln/>
        </p:spPr>
      </p:sp>
      <p:sp>
        <p:nvSpPr>
          <p:cNvPr id="12" name="Shape 10"/>
          <p:cNvSpPr/>
          <p:nvPr/>
        </p:nvSpPr>
        <p:spPr>
          <a:xfrm>
            <a:off x="4347362" y="2450592"/>
            <a:ext cx="3496970" cy="502920"/>
          </a:xfrm>
          <a:prstGeom prst="rect">
            <a:avLst/>
          </a:prstGeom>
          <a:solidFill>
            <a:srgbClr val="2563EB"/>
          </a:solidFill>
          <a:ln/>
        </p:spPr>
      </p:sp>
      <p:sp>
        <p:nvSpPr>
          <p:cNvPr id="13" name="Text 11"/>
          <p:cNvSpPr/>
          <p:nvPr/>
        </p:nvSpPr>
        <p:spPr>
          <a:xfrm>
            <a:off x="4347362"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2: 品質</a:t>
            </a:r>
            <a:endParaRPr lang="en-US" sz="1300" dirty="0"/>
          </a:p>
        </p:txBody>
      </p:sp>
      <p:sp>
        <p:nvSpPr>
          <p:cNvPr id="14" name="Shape 12"/>
          <p:cNvSpPr/>
          <p:nvPr/>
        </p:nvSpPr>
        <p:spPr>
          <a:xfrm>
            <a:off x="4347362" y="2953512"/>
            <a:ext cx="3496970" cy="1508760"/>
          </a:xfrm>
          <a:prstGeom prst="rect">
            <a:avLst/>
          </a:prstGeom>
          <a:solidFill>
            <a:srgbClr val="FFFFFF"/>
          </a:solidFill>
          <a:ln w="6350">
            <a:solidFill>
              <a:srgbClr val="D1D5DB"/>
            </a:solidFill>
            <a:prstDash val="solid"/>
          </a:ln>
        </p:spPr>
      </p:sp>
      <p:sp>
        <p:nvSpPr>
          <p:cNvPr id="15" name="Text 13"/>
          <p:cNvSpPr/>
          <p:nvPr/>
        </p:nvSpPr>
        <p:spPr>
          <a:xfrm>
            <a:off x="4530242" y="295351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保守容易性が高い</a:t>
            </a:r>
            <a:endParaRPr lang="en-US" sz="1200" dirty="0"/>
          </a:p>
        </p:txBody>
      </p:sp>
      <p:sp>
        <p:nvSpPr>
          <p:cNvPr id="16" name="Text 14"/>
          <p:cNvSpPr/>
          <p:nvPr/>
        </p:nvSpPr>
        <p:spPr>
          <a:xfrm>
            <a:off x="4530242" y="345643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テストカバレッジ確保</a:t>
            </a:r>
            <a:endParaRPr lang="en-US" sz="1200" dirty="0"/>
          </a:p>
        </p:txBody>
      </p:sp>
      <p:sp>
        <p:nvSpPr>
          <p:cNvPr id="17" name="Text 15"/>
          <p:cNvSpPr/>
          <p:nvPr/>
        </p:nvSpPr>
        <p:spPr>
          <a:xfrm>
            <a:off x="4530242" y="395935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障害復旧時間が短い</a:t>
            </a:r>
            <a:endParaRPr lang="en-US" sz="1200" dirty="0"/>
          </a:p>
        </p:txBody>
      </p:sp>
      <p:sp>
        <p:nvSpPr>
          <p:cNvPr id="18" name="Shape 16"/>
          <p:cNvSpPr/>
          <p:nvPr/>
        </p:nvSpPr>
        <p:spPr>
          <a:xfrm>
            <a:off x="4530242" y="3452774"/>
            <a:ext cx="3131210" cy="7315"/>
          </a:xfrm>
          <a:prstGeom prst="rect">
            <a:avLst/>
          </a:prstGeom>
          <a:solidFill>
            <a:srgbClr val="D1D5DB"/>
          </a:solidFill>
          <a:ln/>
        </p:spPr>
      </p:sp>
      <p:sp>
        <p:nvSpPr>
          <p:cNvPr id="19" name="Shape 17"/>
          <p:cNvSpPr/>
          <p:nvPr/>
        </p:nvSpPr>
        <p:spPr>
          <a:xfrm>
            <a:off x="4530242" y="3955694"/>
            <a:ext cx="3131210" cy="7315"/>
          </a:xfrm>
          <a:prstGeom prst="rect">
            <a:avLst/>
          </a:prstGeom>
          <a:solidFill>
            <a:srgbClr val="D1D5DB"/>
          </a:solidFill>
          <a:ln/>
        </p:spPr>
      </p:sp>
      <p:sp>
        <p:nvSpPr>
          <p:cNvPr id="20" name="Shape 18"/>
          <p:cNvSpPr/>
          <p:nvPr/>
        </p:nvSpPr>
        <p:spPr>
          <a:xfrm>
            <a:off x="8100365" y="2450592"/>
            <a:ext cx="3496970" cy="502920"/>
          </a:xfrm>
          <a:prstGeom prst="rect">
            <a:avLst/>
          </a:prstGeom>
          <a:solidFill>
            <a:srgbClr val="2563EB"/>
          </a:solidFill>
          <a:ln/>
        </p:spPr>
      </p:sp>
      <p:sp>
        <p:nvSpPr>
          <p:cNvPr id="21" name="Text 19"/>
          <p:cNvSpPr/>
          <p:nvPr/>
        </p:nvSpPr>
        <p:spPr>
          <a:xfrm>
            <a:off x="8100365"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3: コスト</a:t>
            </a:r>
            <a:endParaRPr lang="en-US" sz="1300" dirty="0"/>
          </a:p>
        </p:txBody>
      </p:sp>
      <p:sp>
        <p:nvSpPr>
          <p:cNvPr id="22" name="Shape 20"/>
          <p:cNvSpPr/>
          <p:nvPr/>
        </p:nvSpPr>
        <p:spPr>
          <a:xfrm>
            <a:off x="8100365" y="2953512"/>
            <a:ext cx="3496970" cy="1508760"/>
          </a:xfrm>
          <a:prstGeom prst="rect">
            <a:avLst/>
          </a:prstGeom>
          <a:solidFill>
            <a:srgbClr val="FFFFFF"/>
          </a:solidFill>
          <a:ln w="6350">
            <a:solidFill>
              <a:srgbClr val="D1D5DB"/>
            </a:solidFill>
            <a:prstDash val="solid"/>
          </a:ln>
        </p:spPr>
      </p:sp>
      <p:sp>
        <p:nvSpPr>
          <p:cNvPr id="23" name="Text 21"/>
          <p:cNvSpPr/>
          <p:nvPr/>
        </p:nvSpPr>
        <p:spPr>
          <a:xfrm>
            <a:off x="8283245" y="295351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初期投資が小さい</a:t>
            </a:r>
            <a:endParaRPr lang="en-US" sz="1200" dirty="0"/>
          </a:p>
        </p:txBody>
      </p:sp>
      <p:sp>
        <p:nvSpPr>
          <p:cNvPr id="24" name="Text 22"/>
          <p:cNvSpPr/>
          <p:nvPr/>
        </p:nvSpPr>
        <p:spPr>
          <a:xfrm>
            <a:off x="8283245" y="345643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運用負荷が低い</a:t>
            </a:r>
            <a:endParaRPr lang="en-US" sz="1200" dirty="0"/>
          </a:p>
        </p:txBody>
      </p:sp>
      <p:sp>
        <p:nvSpPr>
          <p:cNvPr id="25" name="Text 23"/>
          <p:cNvSpPr/>
          <p:nvPr/>
        </p:nvSpPr>
        <p:spPr>
          <a:xfrm>
            <a:off x="8283245" y="3959352"/>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段階的な拡張が可能</a:t>
            </a:r>
            <a:endParaRPr lang="en-US" sz="1200" dirty="0"/>
          </a:p>
        </p:txBody>
      </p:sp>
      <p:sp>
        <p:nvSpPr>
          <p:cNvPr id="26" name="Shape 24"/>
          <p:cNvSpPr/>
          <p:nvPr/>
        </p:nvSpPr>
        <p:spPr>
          <a:xfrm>
            <a:off x="8283245" y="3452774"/>
            <a:ext cx="3131210" cy="7315"/>
          </a:xfrm>
          <a:prstGeom prst="rect">
            <a:avLst/>
          </a:prstGeom>
          <a:solidFill>
            <a:srgbClr val="D1D5DB"/>
          </a:solidFill>
          <a:ln/>
        </p:spPr>
      </p:sp>
      <p:sp>
        <p:nvSpPr>
          <p:cNvPr id="27" name="Shape 25"/>
          <p:cNvSpPr/>
          <p:nvPr/>
        </p:nvSpPr>
        <p:spPr>
          <a:xfrm>
            <a:off x="8283245" y="3955694"/>
            <a:ext cx="3131210" cy="7315"/>
          </a:xfrm>
          <a:prstGeom prst="rect">
            <a:avLst/>
          </a:prstGeom>
          <a:solidFill>
            <a:srgbClr val="D1D5DB"/>
          </a:solidFill>
          <a:ln/>
        </p:spPr>
      </p:sp>
      <p:sp>
        <p:nvSpPr>
          <p:cNvPr id="28" name="Text 26"/>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29" name="Text 27"/>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panel-cards ─ 3 枚版（境界含む / 含まない混在）</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3 枚並べる構成。1 カード 7 件まで・全角 17 字まで。カードごとに行数 / 文字数の上限到達有無を変えて配置している。</a:t>
            </a:r>
            <a:endParaRPr lang="en-US" sz="1300" dirty="0"/>
          </a:p>
        </p:txBody>
      </p:sp>
      <p:sp>
        <p:nvSpPr>
          <p:cNvPr id="4" name="Shape 2"/>
          <p:cNvSpPr/>
          <p:nvPr/>
        </p:nvSpPr>
        <p:spPr>
          <a:xfrm>
            <a:off x="594360" y="2080260"/>
            <a:ext cx="3496970" cy="502920"/>
          </a:xfrm>
          <a:prstGeom prst="rect">
            <a:avLst/>
          </a:prstGeom>
          <a:solidFill>
            <a:srgbClr val="2563EB"/>
          </a:solidFill>
          <a:ln/>
        </p:spPr>
      </p:sp>
      <p:sp>
        <p:nvSpPr>
          <p:cNvPr id="5" name="Text 3"/>
          <p:cNvSpPr/>
          <p:nvPr/>
        </p:nvSpPr>
        <p:spPr>
          <a:xfrm>
            <a:off x="594360" y="208026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ベーシック</a:t>
            </a:r>
            <a:endParaRPr lang="en-US" sz="1300" dirty="0"/>
          </a:p>
        </p:txBody>
      </p:sp>
      <p:sp>
        <p:nvSpPr>
          <p:cNvPr id="6" name="Shape 4"/>
          <p:cNvSpPr/>
          <p:nvPr/>
        </p:nvSpPr>
        <p:spPr>
          <a:xfrm>
            <a:off x="594360" y="2583180"/>
            <a:ext cx="3496970" cy="3520440"/>
          </a:xfrm>
          <a:prstGeom prst="rect">
            <a:avLst/>
          </a:prstGeom>
          <a:solidFill>
            <a:srgbClr val="FFFFFF"/>
          </a:solidFill>
          <a:ln w="6350">
            <a:solidFill>
              <a:srgbClr val="D1D5DB"/>
            </a:solidFill>
            <a:prstDash val="solid"/>
          </a:ln>
        </p:spPr>
      </p:sp>
      <p:sp>
        <p:nvSpPr>
          <p:cNvPr id="7" name="Text 5"/>
          <p:cNvSpPr/>
          <p:nvPr/>
        </p:nvSpPr>
        <p:spPr>
          <a:xfrm>
            <a:off x="777240" y="25831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個人利用向け</a:t>
            </a:r>
            <a:endParaRPr lang="en-US" sz="1200" dirty="0"/>
          </a:p>
        </p:txBody>
      </p:sp>
      <p:sp>
        <p:nvSpPr>
          <p:cNvPr id="8" name="Text 6"/>
          <p:cNvSpPr/>
          <p:nvPr/>
        </p:nvSpPr>
        <p:spPr>
          <a:xfrm>
            <a:off x="777240" y="30861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アカウント 1 件</a:t>
            </a:r>
            <a:endParaRPr lang="en-US" sz="1200" dirty="0"/>
          </a:p>
        </p:txBody>
      </p:sp>
      <p:sp>
        <p:nvSpPr>
          <p:cNvPr id="9" name="Text 7"/>
          <p:cNvSpPr/>
          <p:nvPr/>
        </p:nvSpPr>
        <p:spPr>
          <a:xfrm>
            <a:off x="777240" y="35890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基本機能のみ</a:t>
            </a:r>
            <a:endParaRPr lang="en-US" sz="1200" dirty="0"/>
          </a:p>
        </p:txBody>
      </p:sp>
      <p:sp>
        <p:nvSpPr>
          <p:cNvPr id="10" name="Text 8"/>
          <p:cNvSpPr/>
          <p:nvPr/>
        </p:nvSpPr>
        <p:spPr>
          <a:xfrm>
            <a:off x="777240" y="40919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ストレージ 10GB</a:t>
            </a:r>
            <a:endParaRPr lang="en-US" sz="1200" dirty="0"/>
          </a:p>
        </p:txBody>
      </p:sp>
      <p:sp>
        <p:nvSpPr>
          <p:cNvPr id="11" name="Text 9"/>
          <p:cNvSpPr/>
          <p:nvPr/>
        </p:nvSpPr>
        <p:spPr>
          <a:xfrm>
            <a:off x="777240" y="45948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サブスクリプション運用管理画面構築</a:t>
            </a:r>
            <a:endParaRPr lang="en-US" sz="1200" dirty="0"/>
          </a:p>
        </p:txBody>
      </p:sp>
      <p:sp>
        <p:nvSpPr>
          <p:cNvPr id="12" name="Text 10"/>
          <p:cNvSpPr/>
          <p:nvPr/>
        </p:nvSpPr>
        <p:spPr>
          <a:xfrm>
            <a:off x="777240" y="50977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月額 0 円</a:t>
            </a:r>
            <a:endParaRPr lang="en-US" sz="1200" dirty="0"/>
          </a:p>
        </p:txBody>
      </p:sp>
      <p:sp>
        <p:nvSpPr>
          <p:cNvPr id="13" name="Text 11"/>
          <p:cNvSpPr/>
          <p:nvPr/>
        </p:nvSpPr>
        <p:spPr>
          <a:xfrm>
            <a:off x="777240" y="56007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メール通知のみ</a:t>
            </a:r>
            <a:endParaRPr lang="en-US" sz="1200" dirty="0"/>
          </a:p>
        </p:txBody>
      </p:sp>
      <p:sp>
        <p:nvSpPr>
          <p:cNvPr id="14" name="Shape 12"/>
          <p:cNvSpPr/>
          <p:nvPr/>
        </p:nvSpPr>
        <p:spPr>
          <a:xfrm>
            <a:off x="777240" y="3082442"/>
            <a:ext cx="3131210" cy="7315"/>
          </a:xfrm>
          <a:prstGeom prst="rect">
            <a:avLst/>
          </a:prstGeom>
          <a:solidFill>
            <a:srgbClr val="D1D5DB"/>
          </a:solidFill>
          <a:ln/>
        </p:spPr>
      </p:sp>
      <p:sp>
        <p:nvSpPr>
          <p:cNvPr id="15" name="Shape 13"/>
          <p:cNvSpPr/>
          <p:nvPr/>
        </p:nvSpPr>
        <p:spPr>
          <a:xfrm>
            <a:off x="777240" y="3585362"/>
            <a:ext cx="3131210" cy="7315"/>
          </a:xfrm>
          <a:prstGeom prst="rect">
            <a:avLst/>
          </a:prstGeom>
          <a:solidFill>
            <a:srgbClr val="D1D5DB"/>
          </a:solidFill>
          <a:ln/>
        </p:spPr>
      </p:sp>
      <p:sp>
        <p:nvSpPr>
          <p:cNvPr id="16" name="Shape 14"/>
          <p:cNvSpPr/>
          <p:nvPr/>
        </p:nvSpPr>
        <p:spPr>
          <a:xfrm>
            <a:off x="777240" y="4088282"/>
            <a:ext cx="3131210" cy="7315"/>
          </a:xfrm>
          <a:prstGeom prst="rect">
            <a:avLst/>
          </a:prstGeom>
          <a:solidFill>
            <a:srgbClr val="D1D5DB"/>
          </a:solidFill>
          <a:ln/>
        </p:spPr>
      </p:sp>
      <p:sp>
        <p:nvSpPr>
          <p:cNvPr id="17" name="Shape 15"/>
          <p:cNvSpPr/>
          <p:nvPr/>
        </p:nvSpPr>
        <p:spPr>
          <a:xfrm>
            <a:off x="777240" y="4591202"/>
            <a:ext cx="3131210" cy="7315"/>
          </a:xfrm>
          <a:prstGeom prst="rect">
            <a:avLst/>
          </a:prstGeom>
          <a:solidFill>
            <a:srgbClr val="D1D5DB"/>
          </a:solidFill>
          <a:ln/>
        </p:spPr>
      </p:sp>
      <p:sp>
        <p:nvSpPr>
          <p:cNvPr id="18" name="Shape 16"/>
          <p:cNvSpPr/>
          <p:nvPr/>
        </p:nvSpPr>
        <p:spPr>
          <a:xfrm>
            <a:off x="777240" y="5094122"/>
            <a:ext cx="3131210" cy="7315"/>
          </a:xfrm>
          <a:prstGeom prst="rect">
            <a:avLst/>
          </a:prstGeom>
          <a:solidFill>
            <a:srgbClr val="D1D5DB"/>
          </a:solidFill>
          <a:ln/>
        </p:spPr>
      </p:sp>
      <p:sp>
        <p:nvSpPr>
          <p:cNvPr id="19" name="Shape 17"/>
          <p:cNvSpPr/>
          <p:nvPr/>
        </p:nvSpPr>
        <p:spPr>
          <a:xfrm>
            <a:off x="777240" y="5597042"/>
            <a:ext cx="3131210" cy="7315"/>
          </a:xfrm>
          <a:prstGeom prst="rect">
            <a:avLst/>
          </a:prstGeom>
          <a:solidFill>
            <a:srgbClr val="D1D5DB"/>
          </a:solidFill>
          <a:ln/>
        </p:spPr>
      </p:sp>
      <p:sp>
        <p:nvSpPr>
          <p:cNvPr id="20" name="Shape 18"/>
          <p:cNvSpPr/>
          <p:nvPr/>
        </p:nvSpPr>
        <p:spPr>
          <a:xfrm>
            <a:off x="4347362" y="2080260"/>
            <a:ext cx="3496970" cy="502920"/>
          </a:xfrm>
          <a:prstGeom prst="rect">
            <a:avLst/>
          </a:prstGeom>
          <a:solidFill>
            <a:srgbClr val="2563EB"/>
          </a:solidFill>
          <a:ln/>
        </p:spPr>
      </p:sp>
      <p:sp>
        <p:nvSpPr>
          <p:cNvPr id="21" name="Text 19"/>
          <p:cNvSpPr/>
          <p:nvPr/>
        </p:nvSpPr>
        <p:spPr>
          <a:xfrm>
            <a:off x="4347362" y="208026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スタンダード</a:t>
            </a:r>
            <a:endParaRPr lang="en-US" sz="1300" dirty="0"/>
          </a:p>
        </p:txBody>
      </p:sp>
      <p:sp>
        <p:nvSpPr>
          <p:cNvPr id="22" name="Shape 20"/>
          <p:cNvSpPr/>
          <p:nvPr/>
        </p:nvSpPr>
        <p:spPr>
          <a:xfrm>
            <a:off x="4347362" y="2583180"/>
            <a:ext cx="3496970" cy="3520440"/>
          </a:xfrm>
          <a:prstGeom prst="rect">
            <a:avLst/>
          </a:prstGeom>
          <a:solidFill>
            <a:srgbClr val="FFFFFF"/>
          </a:solidFill>
          <a:ln w="6350">
            <a:solidFill>
              <a:srgbClr val="D1D5DB"/>
            </a:solidFill>
            <a:prstDash val="solid"/>
          </a:ln>
        </p:spPr>
      </p:sp>
      <p:sp>
        <p:nvSpPr>
          <p:cNvPr id="23" name="Text 21"/>
          <p:cNvSpPr/>
          <p:nvPr/>
        </p:nvSpPr>
        <p:spPr>
          <a:xfrm>
            <a:off x="4530242" y="25831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アカウント 10 件</a:t>
            </a:r>
            <a:endParaRPr lang="en-US" sz="1200" dirty="0"/>
          </a:p>
        </p:txBody>
      </p:sp>
      <p:sp>
        <p:nvSpPr>
          <p:cNvPr id="24" name="Text 22"/>
          <p:cNvSpPr/>
          <p:nvPr/>
        </p:nvSpPr>
        <p:spPr>
          <a:xfrm>
            <a:off x="4530242" y="30861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拡張機能つき</a:t>
            </a:r>
            <a:endParaRPr lang="en-US" sz="1200" dirty="0"/>
          </a:p>
        </p:txBody>
      </p:sp>
      <p:sp>
        <p:nvSpPr>
          <p:cNvPr id="25" name="Text 23"/>
          <p:cNvSpPr/>
          <p:nvPr/>
        </p:nvSpPr>
        <p:spPr>
          <a:xfrm>
            <a:off x="4530242" y="35890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ストレージ 50GB</a:t>
            </a:r>
            <a:endParaRPr lang="en-US" sz="1200" dirty="0"/>
          </a:p>
        </p:txBody>
      </p:sp>
      <p:sp>
        <p:nvSpPr>
          <p:cNvPr id="26" name="Text 24"/>
          <p:cNvSpPr/>
          <p:nvPr/>
        </p:nvSpPr>
        <p:spPr>
          <a:xfrm>
            <a:off x="4530242" y="40919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メールサポート</a:t>
            </a:r>
            <a:endParaRPr lang="en-US" sz="1200" dirty="0"/>
          </a:p>
        </p:txBody>
      </p:sp>
      <p:sp>
        <p:nvSpPr>
          <p:cNvPr id="27" name="Text 25"/>
          <p:cNvSpPr/>
          <p:nvPr/>
        </p:nvSpPr>
        <p:spPr>
          <a:xfrm>
            <a:off x="4530242" y="45948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月額 1,500 円</a:t>
            </a:r>
            <a:endParaRPr lang="en-US" sz="1200" dirty="0"/>
          </a:p>
        </p:txBody>
      </p:sp>
      <p:sp>
        <p:nvSpPr>
          <p:cNvPr id="28" name="Shape 26"/>
          <p:cNvSpPr/>
          <p:nvPr/>
        </p:nvSpPr>
        <p:spPr>
          <a:xfrm>
            <a:off x="4530242" y="3082442"/>
            <a:ext cx="3131210" cy="7315"/>
          </a:xfrm>
          <a:prstGeom prst="rect">
            <a:avLst/>
          </a:prstGeom>
          <a:solidFill>
            <a:srgbClr val="D1D5DB"/>
          </a:solidFill>
          <a:ln/>
        </p:spPr>
      </p:sp>
      <p:sp>
        <p:nvSpPr>
          <p:cNvPr id="29" name="Shape 27"/>
          <p:cNvSpPr/>
          <p:nvPr/>
        </p:nvSpPr>
        <p:spPr>
          <a:xfrm>
            <a:off x="4530242" y="3585362"/>
            <a:ext cx="3131210" cy="7315"/>
          </a:xfrm>
          <a:prstGeom prst="rect">
            <a:avLst/>
          </a:prstGeom>
          <a:solidFill>
            <a:srgbClr val="D1D5DB"/>
          </a:solidFill>
          <a:ln/>
        </p:spPr>
      </p:sp>
      <p:sp>
        <p:nvSpPr>
          <p:cNvPr id="30" name="Shape 28"/>
          <p:cNvSpPr/>
          <p:nvPr/>
        </p:nvSpPr>
        <p:spPr>
          <a:xfrm>
            <a:off x="4530242" y="4088282"/>
            <a:ext cx="3131210" cy="7315"/>
          </a:xfrm>
          <a:prstGeom prst="rect">
            <a:avLst/>
          </a:prstGeom>
          <a:solidFill>
            <a:srgbClr val="D1D5DB"/>
          </a:solidFill>
          <a:ln/>
        </p:spPr>
      </p:sp>
      <p:sp>
        <p:nvSpPr>
          <p:cNvPr id="31" name="Shape 29"/>
          <p:cNvSpPr/>
          <p:nvPr/>
        </p:nvSpPr>
        <p:spPr>
          <a:xfrm>
            <a:off x="4530242" y="4591202"/>
            <a:ext cx="3131210" cy="7315"/>
          </a:xfrm>
          <a:prstGeom prst="rect">
            <a:avLst/>
          </a:prstGeom>
          <a:solidFill>
            <a:srgbClr val="D1D5DB"/>
          </a:solidFill>
          <a:ln/>
        </p:spPr>
      </p:sp>
      <p:sp>
        <p:nvSpPr>
          <p:cNvPr id="32" name="Shape 30"/>
          <p:cNvSpPr/>
          <p:nvPr/>
        </p:nvSpPr>
        <p:spPr>
          <a:xfrm>
            <a:off x="4530242" y="5094122"/>
            <a:ext cx="3131210" cy="7315"/>
          </a:xfrm>
          <a:prstGeom prst="rect">
            <a:avLst/>
          </a:prstGeom>
          <a:solidFill>
            <a:srgbClr val="D1D5DB"/>
          </a:solidFill>
          <a:ln/>
        </p:spPr>
      </p:sp>
      <p:sp>
        <p:nvSpPr>
          <p:cNvPr id="33" name="Shape 31"/>
          <p:cNvSpPr/>
          <p:nvPr/>
        </p:nvSpPr>
        <p:spPr>
          <a:xfrm>
            <a:off x="4530242" y="5597042"/>
            <a:ext cx="3131210" cy="7315"/>
          </a:xfrm>
          <a:prstGeom prst="rect">
            <a:avLst/>
          </a:prstGeom>
          <a:solidFill>
            <a:srgbClr val="D1D5DB"/>
          </a:solidFill>
          <a:ln/>
        </p:spPr>
      </p:sp>
      <p:sp>
        <p:nvSpPr>
          <p:cNvPr id="34" name="Shape 32"/>
          <p:cNvSpPr/>
          <p:nvPr/>
        </p:nvSpPr>
        <p:spPr>
          <a:xfrm>
            <a:off x="8100365" y="2080260"/>
            <a:ext cx="3496970" cy="502920"/>
          </a:xfrm>
          <a:prstGeom prst="rect">
            <a:avLst/>
          </a:prstGeom>
          <a:solidFill>
            <a:srgbClr val="2563EB"/>
          </a:solidFill>
          <a:ln/>
        </p:spPr>
      </p:sp>
      <p:sp>
        <p:nvSpPr>
          <p:cNvPr id="35" name="Text 33"/>
          <p:cNvSpPr/>
          <p:nvPr/>
        </p:nvSpPr>
        <p:spPr>
          <a:xfrm>
            <a:off x="8100365" y="208026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プレミアム</a:t>
            </a:r>
            <a:endParaRPr lang="en-US" sz="1300" dirty="0"/>
          </a:p>
        </p:txBody>
      </p:sp>
      <p:sp>
        <p:nvSpPr>
          <p:cNvPr id="36" name="Shape 34"/>
          <p:cNvSpPr/>
          <p:nvPr/>
        </p:nvSpPr>
        <p:spPr>
          <a:xfrm>
            <a:off x="8100365" y="2583180"/>
            <a:ext cx="3496970" cy="3520440"/>
          </a:xfrm>
          <a:prstGeom prst="rect">
            <a:avLst/>
          </a:prstGeom>
          <a:solidFill>
            <a:srgbClr val="FFFFFF"/>
          </a:solidFill>
          <a:ln w="6350">
            <a:solidFill>
              <a:srgbClr val="D1D5DB"/>
            </a:solidFill>
            <a:prstDash val="solid"/>
          </a:ln>
        </p:spPr>
      </p:sp>
      <p:sp>
        <p:nvSpPr>
          <p:cNvPr id="37" name="Text 35"/>
          <p:cNvSpPr/>
          <p:nvPr/>
        </p:nvSpPr>
        <p:spPr>
          <a:xfrm>
            <a:off x="8283245" y="25831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アカウント 無制限</a:t>
            </a:r>
            <a:endParaRPr lang="en-US" sz="1200" dirty="0"/>
          </a:p>
        </p:txBody>
      </p:sp>
      <p:sp>
        <p:nvSpPr>
          <p:cNvPr id="38" name="Text 36"/>
          <p:cNvSpPr/>
          <p:nvPr/>
        </p:nvSpPr>
        <p:spPr>
          <a:xfrm>
            <a:off x="8283245" y="30861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全機能利用可</a:t>
            </a:r>
            <a:endParaRPr lang="en-US" sz="1200" dirty="0"/>
          </a:p>
        </p:txBody>
      </p:sp>
      <p:sp>
        <p:nvSpPr>
          <p:cNvPr id="39" name="Text 37"/>
          <p:cNvSpPr/>
          <p:nvPr/>
        </p:nvSpPr>
        <p:spPr>
          <a:xfrm>
            <a:off x="8283245" y="35890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ストレージ 500GB</a:t>
            </a:r>
            <a:endParaRPr lang="en-US" sz="1200" dirty="0"/>
          </a:p>
        </p:txBody>
      </p:sp>
      <p:sp>
        <p:nvSpPr>
          <p:cNvPr id="40" name="Text 38"/>
          <p:cNvSpPr/>
          <p:nvPr/>
        </p:nvSpPr>
        <p:spPr>
          <a:xfrm>
            <a:off x="8283245" y="40919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境界十七字までを含む全角ラベル例示</a:t>
            </a:r>
            <a:endParaRPr lang="en-US" sz="1200" dirty="0"/>
          </a:p>
        </p:txBody>
      </p:sp>
      <p:sp>
        <p:nvSpPr>
          <p:cNvPr id="41" name="Text 39"/>
          <p:cNvSpPr/>
          <p:nvPr/>
        </p:nvSpPr>
        <p:spPr>
          <a:xfrm>
            <a:off x="8283245" y="45948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電話サポートつき</a:t>
            </a:r>
            <a:endParaRPr lang="en-US" sz="1200" dirty="0"/>
          </a:p>
        </p:txBody>
      </p:sp>
      <p:sp>
        <p:nvSpPr>
          <p:cNvPr id="42" name="Text 40"/>
          <p:cNvSpPr/>
          <p:nvPr/>
        </p:nvSpPr>
        <p:spPr>
          <a:xfrm>
            <a:off x="8283245" y="50977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月額 5,800 円</a:t>
            </a:r>
            <a:endParaRPr lang="en-US" sz="1200" dirty="0"/>
          </a:p>
        </p:txBody>
      </p:sp>
      <p:sp>
        <p:nvSpPr>
          <p:cNvPr id="43" name="Shape 41"/>
          <p:cNvSpPr/>
          <p:nvPr/>
        </p:nvSpPr>
        <p:spPr>
          <a:xfrm>
            <a:off x="8283245" y="3082442"/>
            <a:ext cx="3131210" cy="7315"/>
          </a:xfrm>
          <a:prstGeom prst="rect">
            <a:avLst/>
          </a:prstGeom>
          <a:solidFill>
            <a:srgbClr val="D1D5DB"/>
          </a:solidFill>
          <a:ln/>
        </p:spPr>
      </p:sp>
      <p:sp>
        <p:nvSpPr>
          <p:cNvPr id="44" name="Shape 42"/>
          <p:cNvSpPr/>
          <p:nvPr/>
        </p:nvSpPr>
        <p:spPr>
          <a:xfrm>
            <a:off x="8283245" y="3585362"/>
            <a:ext cx="3131210" cy="7315"/>
          </a:xfrm>
          <a:prstGeom prst="rect">
            <a:avLst/>
          </a:prstGeom>
          <a:solidFill>
            <a:srgbClr val="D1D5DB"/>
          </a:solidFill>
          <a:ln/>
        </p:spPr>
      </p:sp>
      <p:sp>
        <p:nvSpPr>
          <p:cNvPr id="45" name="Shape 43"/>
          <p:cNvSpPr/>
          <p:nvPr/>
        </p:nvSpPr>
        <p:spPr>
          <a:xfrm>
            <a:off x="8283245" y="4088282"/>
            <a:ext cx="3131210" cy="7315"/>
          </a:xfrm>
          <a:prstGeom prst="rect">
            <a:avLst/>
          </a:prstGeom>
          <a:solidFill>
            <a:srgbClr val="D1D5DB"/>
          </a:solidFill>
          <a:ln/>
        </p:spPr>
      </p:sp>
      <p:sp>
        <p:nvSpPr>
          <p:cNvPr id="46" name="Shape 44"/>
          <p:cNvSpPr/>
          <p:nvPr/>
        </p:nvSpPr>
        <p:spPr>
          <a:xfrm>
            <a:off x="8283245" y="4591202"/>
            <a:ext cx="3131210" cy="7315"/>
          </a:xfrm>
          <a:prstGeom prst="rect">
            <a:avLst/>
          </a:prstGeom>
          <a:solidFill>
            <a:srgbClr val="D1D5DB"/>
          </a:solidFill>
          <a:ln/>
        </p:spPr>
      </p:sp>
      <p:sp>
        <p:nvSpPr>
          <p:cNvPr id="47" name="Shape 45"/>
          <p:cNvSpPr/>
          <p:nvPr/>
        </p:nvSpPr>
        <p:spPr>
          <a:xfrm>
            <a:off x="8283245" y="5094122"/>
            <a:ext cx="3131210" cy="7315"/>
          </a:xfrm>
          <a:prstGeom prst="rect">
            <a:avLst/>
          </a:prstGeom>
          <a:solidFill>
            <a:srgbClr val="D1D5DB"/>
          </a:solidFill>
          <a:ln/>
        </p:spPr>
      </p:sp>
      <p:sp>
        <p:nvSpPr>
          <p:cNvPr id="48" name="Shape 46"/>
          <p:cNvSpPr/>
          <p:nvPr/>
        </p:nvSpPr>
        <p:spPr>
          <a:xfrm>
            <a:off x="8283245" y="5597042"/>
            <a:ext cx="3131210" cy="7315"/>
          </a:xfrm>
          <a:prstGeom prst="rect">
            <a:avLst/>
          </a:prstGeom>
          <a:solidFill>
            <a:srgbClr val="D1D5DB"/>
          </a:solidFill>
          <a:ln/>
        </p:spPr>
      </p:sp>
      <p:sp>
        <p:nvSpPr>
          <p:cNvPr id="49" name="Text 47"/>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50" name="Text 48"/>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panel-cards ─ 2 枚版（境界含む / 含まない混在）</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2 枚並べる構成。カード幅は 3 枚版と同じ。1 カード 7 件まで・全角 17 字まで。左カードは行数上限ぴったり、右カードは文字数上限を含む。</a:t>
            </a:r>
            <a:endParaRPr lang="en-US" sz="1300" dirty="0"/>
          </a:p>
        </p:txBody>
      </p:sp>
      <p:sp>
        <p:nvSpPr>
          <p:cNvPr id="4" name="Shape 2"/>
          <p:cNvSpPr/>
          <p:nvPr/>
        </p:nvSpPr>
        <p:spPr>
          <a:xfrm>
            <a:off x="2171395" y="2080260"/>
            <a:ext cx="3496970" cy="502920"/>
          </a:xfrm>
          <a:prstGeom prst="rect">
            <a:avLst/>
          </a:prstGeom>
          <a:solidFill>
            <a:srgbClr val="2563EB"/>
          </a:solidFill>
          <a:ln/>
        </p:spPr>
      </p:sp>
      <p:sp>
        <p:nvSpPr>
          <p:cNvPr id="5" name="Text 3"/>
          <p:cNvSpPr/>
          <p:nvPr/>
        </p:nvSpPr>
        <p:spPr>
          <a:xfrm>
            <a:off x="2171395" y="208026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スタンダード</a:t>
            </a:r>
            <a:endParaRPr lang="en-US" sz="1300" dirty="0"/>
          </a:p>
        </p:txBody>
      </p:sp>
      <p:sp>
        <p:nvSpPr>
          <p:cNvPr id="6" name="Shape 4"/>
          <p:cNvSpPr/>
          <p:nvPr/>
        </p:nvSpPr>
        <p:spPr>
          <a:xfrm>
            <a:off x="2171395" y="2583180"/>
            <a:ext cx="3496970" cy="3520440"/>
          </a:xfrm>
          <a:prstGeom prst="rect">
            <a:avLst/>
          </a:prstGeom>
          <a:solidFill>
            <a:srgbClr val="FFFFFF"/>
          </a:solidFill>
          <a:ln w="6350">
            <a:solidFill>
              <a:srgbClr val="D1D5DB"/>
            </a:solidFill>
            <a:prstDash val="solid"/>
          </a:ln>
        </p:spPr>
      </p:sp>
      <p:sp>
        <p:nvSpPr>
          <p:cNvPr id="7" name="Text 5"/>
          <p:cNvSpPr/>
          <p:nvPr/>
        </p:nvSpPr>
        <p:spPr>
          <a:xfrm>
            <a:off x="2354275" y="25831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ユーザー利用</a:t>
            </a:r>
            <a:endParaRPr lang="en-US" sz="1200" dirty="0"/>
          </a:p>
        </p:txBody>
      </p:sp>
      <p:sp>
        <p:nvSpPr>
          <p:cNvPr id="8" name="Text 6"/>
          <p:cNvSpPr/>
          <p:nvPr/>
        </p:nvSpPr>
        <p:spPr>
          <a:xfrm>
            <a:off x="2354275" y="30861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基本機能のみ</a:t>
            </a:r>
            <a:endParaRPr lang="en-US" sz="1200" dirty="0"/>
          </a:p>
        </p:txBody>
      </p:sp>
      <p:sp>
        <p:nvSpPr>
          <p:cNvPr id="9" name="Text 7"/>
          <p:cNvSpPr/>
          <p:nvPr/>
        </p:nvSpPr>
        <p:spPr>
          <a:xfrm>
            <a:off x="2354275" y="35890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ストレージ 5GB</a:t>
            </a:r>
            <a:endParaRPr lang="en-US" sz="1200" dirty="0"/>
          </a:p>
        </p:txBody>
      </p:sp>
      <p:sp>
        <p:nvSpPr>
          <p:cNvPr id="10" name="Text 8"/>
          <p:cNvSpPr/>
          <p:nvPr/>
        </p:nvSpPr>
        <p:spPr>
          <a:xfrm>
            <a:off x="2354275" y="40919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メール通知あり</a:t>
            </a:r>
            <a:endParaRPr lang="en-US" sz="1200" dirty="0"/>
          </a:p>
        </p:txBody>
      </p:sp>
      <p:sp>
        <p:nvSpPr>
          <p:cNvPr id="11" name="Text 9"/>
          <p:cNvSpPr/>
          <p:nvPr/>
        </p:nvSpPr>
        <p:spPr>
          <a:xfrm>
            <a:off x="2354275" y="45948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ダッシュボード閲覧</a:t>
            </a:r>
            <a:endParaRPr lang="en-US" sz="1200" dirty="0"/>
          </a:p>
        </p:txBody>
      </p:sp>
      <p:sp>
        <p:nvSpPr>
          <p:cNvPr id="12" name="Text 10"/>
          <p:cNvSpPr/>
          <p:nvPr/>
        </p:nvSpPr>
        <p:spPr>
          <a:xfrm>
            <a:off x="2354275" y="50977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月額 1,000 円</a:t>
            </a:r>
            <a:endParaRPr lang="en-US" sz="1200" dirty="0"/>
          </a:p>
        </p:txBody>
      </p:sp>
      <p:sp>
        <p:nvSpPr>
          <p:cNvPr id="13" name="Text 11"/>
          <p:cNvSpPr/>
          <p:nvPr/>
        </p:nvSpPr>
        <p:spPr>
          <a:xfrm>
            <a:off x="2354275" y="56007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個人ユーザー向け</a:t>
            </a:r>
            <a:endParaRPr lang="en-US" sz="1200" dirty="0"/>
          </a:p>
        </p:txBody>
      </p:sp>
      <p:sp>
        <p:nvSpPr>
          <p:cNvPr id="14" name="Shape 12"/>
          <p:cNvSpPr/>
          <p:nvPr/>
        </p:nvSpPr>
        <p:spPr>
          <a:xfrm>
            <a:off x="2354275" y="3082442"/>
            <a:ext cx="3131210" cy="7315"/>
          </a:xfrm>
          <a:prstGeom prst="rect">
            <a:avLst/>
          </a:prstGeom>
          <a:solidFill>
            <a:srgbClr val="D1D5DB"/>
          </a:solidFill>
          <a:ln/>
        </p:spPr>
      </p:sp>
      <p:sp>
        <p:nvSpPr>
          <p:cNvPr id="15" name="Shape 13"/>
          <p:cNvSpPr/>
          <p:nvPr/>
        </p:nvSpPr>
        <p:spPr>
          <a:xfrm>
            <a:off x="2354275" y="3585362"/>
            <a:ext cx="3131210" cy="7315"/>
          </a:xfrm>
          <a:prstGeom prst="rect">
            <a:avLst/>
          </a:prstGeom>
          <a:solidFill>
            <a:srgbClr val="D1D5DB"/>
          </a:solidFill>
          <a:ln/>
        </p:spPr>
      </p:sp>
      <p:sp>
        <p:nvSpPr>
          <p:cNvPr id="16" name="Shape 14"/>
          <p:cNvSpPr/>
          <p:nvPr/>
        </p:nvSpPr>
        <p:spPr>
          <a:xfrm>
            <a:off x="2354275" y="4088282"/>
            <a:ext cx="3131210" cy="7315"/>
          </a:xfrm>
          <a:prstGeom prst="rect">
            <a:avLst/>
          </a:prstGeom>
          <a:solidFill>
            <a:srgbClr val="D1D5DB"/>
          </a:solidFill>
          <a:ln/>
        </p:spPr>
      </p:sp>
      <p:sp>
        <p:nvSpPr>
          <p:cNvPr id="17" name="Shape 15"/>
          <p:cNvSpPr/>
          <p:nvPr/>
        </p:nvSpPr>
        <p:spPr>
          <a:xfrm>
            <a:off x="2354275" y="4591202"/>
            <a:ext cx="3131210" cy="7315"/>
          </a:xfrm>
          <a:prstGeom prst="rect">
            <a:avLst/>
          </a:prstGeom>
          <a:solidFill>
            <a:srgbClr val="D1D5DB"/>
          </a:solidFill>
          <a:ln/>
        </p:spPr>
      </p:sp>
      <p:sp>
        <p:nvSpPr>
          <p:cNvPr id="18" name="Shape 16"/>
          <p:cNvSpPr/>
          <p:nvPr/>
        </p:nvSpPr>
        <p:spPr>
          <a:xfrm>
            <a:off x="2354275" y="5094122"/>
            <a:ext cx="3131210" cy="7315"/>
          </a:xfrm>
          <a:prstGeom prst="rect">
            <a:avLst/>
          </a:prstGeom>
          <a:solidFill>
            <a:srgbClr val="D1D5DB"/>
          </a:solidFill>
          <a:ln/>
        </p:spPr>
      </p:sp>
      <p:sp>
        <p:nvSpPr>
          <p:cNvPr id="19" name="Shape 17"/>
          <p:cNvSpPr/>
          <p:nvPr/>
        </p:nvSpPr>
        <p:spPr>
          <a:xfrm>
            <a:off x="2354275" y="5597042"/>
            <a:ext cx="3131210" cy="7315"/>
          </a:xfrm>
          <a:prstGeom prst="rect">
            <a:avLst/>
          </a:prstGeom>
          <a:solidFill>
            <a:srgbClr val="D1D5DB"/>
          </a:solidFill>
          <a:ln/>
        </p:spPr>
      </p:sp>
      <p:sp>
        <p:nvSpPr>
          <p:cNvPr id="20" name="Shape 18"/>
          <p:cNvSpPr/>
          <p:nvPr/>
        </p:nvSpPr>
        <p:spPr>
          <a:xfrm>
            <a:off x="6523330" y="2080260"/>
            <a:ext cx="3496970" cy="502920"/>
          </a:xfrm>
          <a:prstGeom prst="rect">
            <a:avLst/>
          </a:prstGeom>
          <a:solidFill>
            <a:srgbClr val="2563EB"/>
          </a:solidFill>
          <a:ln/>
        </p:spPr>
      </p:sp>
      <p:sp>
        <p:nvSpPr>
          <p:cNvPr id="21" name="Text 19"/>
          <p:cNvSpPr/>
          <p:nvPr/>
        </p:nvSpPr>
        <p:spPr>
          <a:xfrm>
            <a:off x="6523330" y="208026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ビジネス</a:t>
            </a:r>
            <a:endParaRPr lang="en-US" sz="1300" dirty="0"/>
          </a:p>
        </p:txBody>
      </p:sp>
      <p:sp>
        <p:nvSpPr>
          <p:cNvPr id="22" name="Shape 20"/>
          <p:cNvSpPr/>
          <p:nvPr/>
        </p:nvSpPr>
        <p:spPr>
          <a:xfrm>
            <a:off x="6523330" y="2583180"/>
            <a:ext cx="3496970" cy="3520440"/>
          </a:xfrm>
          <a:prstGeom prst="rect">
            <a:avLst/>
          </a:prstGeom>
          <a:solidFill>
            <a:srgbClr val="FFFFFF"/>
          </a:solidFill>
          <a:ln w="6350">
            <a:solidFill>
              <a:srgbClr val="D1D5DB"/>
            </a:solidFill>
            <a:prstDash val="solid"/>
          </a:ln>
        </p:spPr>
      </p:sp>
      <p:sp>
        <p:nvSpPr>
          <p:cNvPr id="23" name="Text 21"/>
          <p:cNvSpPr/>
          <p:nvPr/>
        </p:nvSpPr>
        <p:spPr>
          <a:xfrm>
            <a:off x="6706210" y="25831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アカウント 最大 20 件</a:t>
            </a:r>
            <a:endParaRPr lang="en-US" sz="1200" dirty="0"/>
          </a:p>
        </p:txBody>
      </p:sp>
      <p:sp>
        <p:nvSpPr>
          <p:cNvPr id="24" name="Text 22"/>
          <p:cNvSpPr/>
          <p:nvPr/>
        </p:nvSpPr>
        <p:spPr>
          <a:xfrm>
            <a:off x="6706210" y="30861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全機能 + 拡張モジュール対応</a:t>
            </a:r>
            <a:endParaRPr lang="en-US" sz="1200" dirty="0"/>
          </a:p>
        </p:txBody>
      </p:sp>
      <p:sp>
        <p:nvSpPr>
          <p:cNvPr id="25" name="Text 23"/>
          <p:cNvSpPr/>
          <p:nvPr/>
        </p:nvSpPr>
        <p:spPr>
          <a:xfrm>
            <a:off x="6706210" y="35890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ストレージ 100GB</a:t>
            </a:r>
            <a:endParaRPr lang="en-US" sz="1200" dirty="0"/>
          </a:p>
        </p:txBody>
      </p:sp>
      <p:sp>
        <p:nvSpPr>
          <p:cNvPr id="26" name="Text 24"/>
          <p:cNvSpPr/>
          <p:nvPr/>
        </p:nvSpPr>
        <p:spPr>
          <a:xfrm>
            <a:off x="6706210" y="40919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上限文字数十七字の全角ラベル例示用</a:t>
            </a:r>
            <a:endParaRPr lang="en-US" sz="1200" dirty="0"/>
          </a:p>
        </p:txBody>
      </p:sp>
      <p:sp>
        <p:nvSpPr>
          <p:cNvPr id="27" name="Text 25"/>
          <p:cNvSpPr/>
          <p:nvPr/>
        </p:nvSpPr>
        <p:spPr>
          <a:xfrm>
            <a:off x="6706210" y="45948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月額 9,800 円 年間契約</a:t>
            </a:r>
            <a:endParaRPr lang="en-US" sz="1200" dirty="0"/>
          </a:p>
        </p:txBody>
      </p:sp>
      <p:sp>
        <p:nvSpPr>
          <p:cNvPr id="28" name="Shape 26"/>
          <p:cNvSpPr/>
          <p:nvPr/>
        </p:nvSpPr>
        <p:spPr>
          <a:xfrm>
            <a:off x="6706210" y="3082442"/>
            <a:ext cx="3131210" cy="7315"/>
          </a:xfrm>
          <a:prstGeom prst="rect">
            <a:avLst/>
          </a:prstGeom>
          <a:solidFill>
            <a:srgbClr val="D1D5DB"/>
          </a:solidFill>
          <a:ln/>
        </p:spPr>
      </p:sp>
      <p:sp>
        <p:nvSpPr>
          <p:cNvPr id="29" name="Shape 27"/>
          <p:cNvSpPr/>
          <p:nvPr/>
        </p:nvSpPr>
        <p:spPr>
          <a:xfrm>
            <a:off x="6706210" y="3585362"/>
            <a:ext cx="3131210" cy="7315"/>
          </a:xfrm>
          <a:prstGeom prst="rect">
            <a:avLst/>
          </a:prstGeom>
          <a:solidFill>
            <a:srgbClr val="D1D5DB"/>
          </a:solidFill>
          <a:ln/>
        </p:spPr>
      </p:sp>
      <p:sp>
        <p:nvSpPr>
          <p:cNvPr id="30" name="Shape 28"/>
          <p:cNvSpPr/>
          <p:nvPr/>
        </p:nvSpPr>
        <p:spPr>
          <a:xfrm>
            <a:off x="6706210" y="4088282"/>
            <a:ext cx="3131210" cy="7315"/>
          </a:xfrm>
          <a:prstGeom prst="rect">
            <a:avLst/>
          </a:prstGeom>
          <a:solidFill>
            <a:srgbClr val="D1D5DB"/>
          </a:solidFill>
          <a:ln/>
        </p:spPr>
      </p:sp>
      <p:sp>
        <p:nvSpPr>
          <p:cNvPr id="31" name="Shape 29"/>
          <p:cNvSpPr/>
          <p:nvPr/>
        </p:nvSpPr>
        <p:spPr>
          <a:xfrm>
            <a:off x="6706210" y="4591202"/>
            <a:ext cx="3131210" cy="7315"/>
          </a:xfrm>
          <a:prstGeom prst="rect">
            <a:avLst/>
          </a:prstGeom>
          <a:solidFill>
            <a:srgbClr val="D1D5DB"/>
          </a:solidFill>
          <a:ln/>
        </p:spPr>
      </p:sp>
      <p:sp>
        <p:nvSpPr>
          <p:cNvPr id="32" name="Shape 30"/>
          <p:cNvSpPr/>
          <p:nvPr/>
        </p:nvSpPr>
        <p:spPr>
          <a:xfrm>
            <a:off x="6706210" y="5094122"/>
            <a:ext cx="3131210" cy="7315"/>
          </a:xfrm>
          <a:prstGeom prst="rect">
            <a:avLst/>
          </a:prstGeom>
          <a:solidFill>
            <a:srgbClr val="D1D5DB"/>
          </a:solidFill>
          <a:ln/>
        </p:spPr>
      </p:sp>
      <p:sp>
        <p:nvSpPr>
          <p:cNvPr id="33" name="Shape 31"/>
          <p:cNvSpPr/>
          <p:nvPr/>
        </p:nvSpPr>
        <p:spPr>
          <a:xfrm>
            <a:off x="6706210" y="5597042"/>
            <a:ext cx="3131210" cy="7315"/>
          </a:xfrm>
          <a:prstGeom prst="rect">
            <a:avLst/>
          </a:prstGeom>
          <a:solidFill>
            <a:srgbClr val="D1D5DB"/>
          </a:solidFill>
          <a:ln/>
        </p:spPr>
      </p:sp>
      <p:sp>
        <p:nvSpPr>
          <p:cNvPr id="34" name="Text 32"/>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35" name="Text 33"/>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panel-bullets ─ cards 3 枚と同一内容（3 枚）</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panel-cards と同じ枠組み（タイトル帯・区切り線・カード配置）で、items を菱形マーカー付き箇条書きに差し替えたバージョン。cards 3 枚の「速度 / 品質 / コスト」を流用。</a:t>
            </a:r>
            <a:endParaRPr lang="en-US" sz="1300" dirty="0"/>
          </a:p>
        </p:txBody>
      </p:sp>
      <p:sp>
        <p:nvSpPr>
          <p:cNvPr id="4" name="Shape 2"/>
          <p:cNvSpPr/>
          <p:nvPr/>
        </p:nvSpPr>
        <p:spPr>
          <a:xfrm>
            <a:off x="594360" y="2450592"/>
            <a:ext cx="3496970" cy="502920"/>
          </a:xfrm>
          <a:prstGeom prst="rect">
            <a:avLst/>
          </a:prstGeom>
          <a:solidFill>
            <a:srgbClr val="2563EB"/>
          </a:solidFill>
          <a:ln/>
        </p:spPr>
      </p:sp>
      <p:sp>
        <p:nvSpPr>
          <p:cNvPr id="5" name="Text 3"/>
          <p:cNvSpPr/>
          <p:nvPr/>
        </p:nvSpPr>
        <p:spPr>
          <a:xfrm>
            <a:off x="594360"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1: 速度</a:t>
            </a:r>
            <a:endParaRPr lang="en-US" sz="1300" dirty="0"/>
          </a:p>
        </p:txBody>
      </p:sp>
      <p:sp>
        <p:nvSpPr>
          <p:cNvPr id="6" name="Shape 4"/>
          <p:cNvSpPr/>
          <p:nvPr/>
        </p:nvSpPr>
        <p:spPr>
          <a:xfrm>
            <a:off x="594360" y="2953512"/>
            <a:ext cx="3496970" cy="1961388"/>
          </a:xfrm>
          <a:prstGeom prst="rect">
            <a:avLst/>
          </a:prstGeom>
          <a:solidFill>
            <a:srgbClr val="FFFFFF"/>
          </a:solidFill>
          <a:ln w="6350">
            <a:solidFill>
              <a:srgbClr val="D1D5DB"/>
            </a:solidFill>
            <a:prstDash val="solid"/>
          </a:ln>
        </p:spPr>
      </p:sp>
      <p:sp>
        <p:nvSpPr>
          <p:cNvPr id="7" name="Text 5"/>
          <p:cNvSpPr/>
          <p:nvPr/>
        </p:nvSpPr>
        <p:spPr>
          <a:xfrm>
            <a:off x="960120" y="317982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立ち上げが早い</a:t>
            </a:r>
            <a:endParaRPr lang="en-US" sz="1300" dirty="0"/>
          </a:p>
        </p:txBody>
      </p:sp>
      <p:sp>
        <p:nvSpPr>
          <p:cNvPr id="8" name="Text 6"/>
          <p:cNvSpPr/>
          <p:nvPr/>
        </p:nvSpPr>
        <p:spPr>
          <a:xfrm>
            <a:off x="960120" y="368274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市場投入が早い</a:t>
            </a:r>
            <a:endParaRPr lang="en-US" sz="1300" dirty="0"/>
          </a:p>
        </p:txBody>
      </p:sp>
      <p:sp>
        <p:nvSpPr>
          <p:cNvPr id="9" name="Text 7"/>
          <p:cNvSpPr/>
          <p:nvPr/>
        </p:nvSpPr>
        <p:spPr>
          <a:xfrm>
            <a:off x="960120" y="418566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PoC で検証しやすい</a:t>
            </a:r>
            <a:endParaRPr lang="en-US" sz="1300" dirty="0"/>
          </a:p>
        </p:txBody>
      </p:sp>
      <p:sp>
        <p:nvSpPr>
          <p:cNvPr id="10" name="Shape 8"/>
          <p:cNvSpPr/>
          <p:nvPr/>
        </p:nvSpPr>
        <p:spPr>
          <a:xfrm>
            <a:off x="4347362" y="2450592"/>
            <a:ext cx="3496970" cy="502920"/>
          </a:xfrm>
          <a:prstGeom prst="rect">
            <a:avLst/>
          </a:prstGeom>
          <a:solidFill>
            <a:srgbClr val="2563EB"/>
          </a:solidFill>
          <a:ln/>
        </p:spPr>
      </p:sp>
      <p:sp>
        <p:nvSpPr>
          <p:cNvPr id="11" name="Text 9"/>
          <p:cNvSpPr/>
          <p:nvPr/>
        </p:nvSpPr>
        <p:spPr>
          <a:xfrm>
            <a:off x="4347362"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2: 品質</a:t>
            </a:r>
            <a:endParaRPr lang="en-US" sz="1300" dirty="0"/>
          </a:p>
        </p:txBody>
      </p:sp>
      <p:sp>
        <p:nvSpPr>
          <p:cNvPr id="12" name="Shape 10"/>
          <p:cNvSpPr/>
          <p:nvPr/>
        </p:nvSpPr>
        <p:spPr>
          <a:xfrm>
            <a:off x="4347362" y="2953512"/>
            <a:ext cx="3496970" cy="1961388"/>
          </a:xfrm>
          <a:prstGeom prst="rect">
            <a:avLst/>
          </a:prstGeom>
          <a:solidFill>
            <a:srgbClr val="FFFFFF"/>
          </a:solidFill>
          <a:ln w="6350">
            <a:solidFill>
              <a:srgbClr val="D1D5DB"/>
            </a:solidFill>
            <a:prstDash val="solid"/>
          </a:ln>
        </p:spPr>
      </p:sp>
      <p:sp>
        <p:nvSpPr>
          <p:cNvPr id="13" name="Text 11"/>
          <p:cNvSpPr/>
          <p:nvPr/>
        </p:nvSpPr>
        <p:spPr>
          <a:xfrm>
            <a:off x="4713122" y="317982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保守容易性が高い</a:t>
            </a:r>
            <a:endParaRPr lang="en-US" sz="1300" dirty="0"/>
          </a:p>
        </p:txBody>
      </p:sp>
      <p:sp>
        <p:nvSpPr>
          <p:cNvPr id="14" name="Text 12"/>
          <p:cNvSpPr/>
          <p:nvPr/>
        </p:nvSpPr>
        <p:spPr>
          <a:xfrm>
            <a:off x="4713122" y="368274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テストカバレッジ確保</a:t>
            </a:r>
            <a:endParaRPr lang="en-US" sz="1300" dirty="0"/>
          </a:p>
        </p:txBody>
      </p:sp>
      <p:sp>
        <p:nvSpPr>
          <p:cNvPr id="15" name="Text 13"/>
          <p:cNvSpPr/>
          <p:nvPr/>
        </p:nvSpPr>
        <p:spPr>
          <a:xfrm>
            <a:off x="4713122" y="418566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障害復旧時間が短い</a:t>
            </a:r>
            <a:endParaRPr lang="en-US" sz="1300" dirty="0"/>
          </a:p>
        </p:txBody>
      </p:sp>
      <p:sp>
        <p:nvSpPr>
          <p:cNvPr id="16" name="Shape 14"/>
          <p:cNvSpPr/>
          <p:nvPr/>
        </p:nvSpPr>
        <p:spPr>
          <a:xfrm>
            <a:off x="8100365" y="2450592"/>
            <a:ext cx="3496970" cy="502920"/>
          </a:xfrm>
          <a:prstGeom prst="rect">
            <a:avLst/>
          </a:prstGeom>
          <a:solidFill>
            <a:srgbClr val="2563EB"/>
          </a:solidFill>
          <a:ln/>
        </p:spPr>
      </p:sp>
      <p:sp>
        <p:nvSpPr>
          <p:cNvPr id="17" name="Text 15"/>
          <p:cNvSpPr/>
          <p:nvPr/>
        </p:nvSpPr>
        <p:spPr>
          <a:xfrm>
            <a:off x="8100365" y="2450592"/>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観点 3: コスト</a:t>
            </a:r>
            <a:endParaRPr lang="en-US" sz="1300" dirty="0"/>
          </a:p>
        </p:txBody>
      </p:sp>
      <p:sp>
        <p:nvSpPr>
          <p:cNvPr id="18" name="Shape 16"/>
          <p:cNvSpPr/>
          <p:nvPr/>
        </p:nvSpPr>
        <p:spPr>
          <a:xfrm>
            <a:off x="8100365" y="2953512"/>
            <a:ext cx="3496970" cy="1961388"/>
          </a:xfrm>
          <a:prstGeom prst="rect">
            <a:avLst/>
          </a:prstGeom>
          <a:solidFill>
            <a:srgbClr val="FFFFFF"/>
          </a:solidFill>
          <a:ln w="6350">
            <a:solidFill>
              <a:srgbClr val="D1D5DB"/>
            </a:solidFill>
            <a:prstDash val="solid"/>
          </a:ln>
        </p:spPr>
      </p:sp>
      <p:sp>
        <p:nvSpPr>
          <p:cNvPr id="19" name="Text 17"/>
          <p:cNvSpPr/>
          <p:nvPr/>
        </p:nvSpPr>
        <p:spPr>
          <a:xfrm>
            <a:off x="8466125" y="317982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初期投資が小さい</a:t>
            </a:r>
            <a:endParaRPr lang="en-US" sz="1300" dirty="0"/>
          </a:p>
        </p:txBody>
      </p:sp>
      <p:sp>
        <p:nvSpPr>
          <p:cNvPr id="20" name="Text 18"/>
          <p:cNvSpPr/>
          <p:nvPr/>
        </p:nvSpPr>
        <p:spPr>
          <a:xfrm>
            <a:off x="8466125" y="368274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運用負荷が低い</a:t>
            </a:r>
            <a:endParaRPr lang="en-US" sz="1300" dirty="0"/>
          </a:p>
        </p:txBody>
      </p:sp>
      <p:sp>
        <p:nvSpPr>
          <p:cNvPr id="21" name="Text 19"/>
          <p:cNvSpPr/>
          <p:nvPr/>
        </p:nvSpPr>
        <p:spPr>
          <a:xfrm>
            <a:off x="8466125" y="4185666"/>
            <a:ext cx="2948330"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段階的な拡張が可能</a:t>
            </a:r>
            <a:endParaRPr lang="en-US" sz="1300" dirty="0"/>
          </a:p>
        </p:txBody>
      </p:sp>
      <p:sp>
        <p:nvSpPr>
          <p:cNvPr id="22" name="Text 20"/>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23" name="Text 21"/>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panel-bullets ─ cards 2 枚と同一内容（2 枚, pos/neg）</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cards 2 枚の「良い側面 / 懸念点」を panel-bullets で描いた版。タイトル帯と本文枠線の色は variant で切り替わる。</a:t>
            </a:r>
            <a:endParaRPr lang="en-US" sz="1300" dirty="0"/>
          </a:p>
        </p:txBody>
      </p:sp>
      <p:sp>
        <p:nvSpPr>
          <p:cNvPr id="4" name="Shape 2"/>
          <p:cNvSpPr/>
          <p:nvPr/>
        </p:nvSpPr>
        <p:spPr>
          <a:xfrm>
            <a:off x="1308506" y="2356866"/>
            <a:ext cx="4359859" cy="502920"/>
          </a:xfrm>
          <a:prstGeom prst="rect">
            <a:avLst/>
          </a:prstGeom>
          <a:solidFill>
            <a:srgbClr val="10B981"/>
          </a:solidFill>
          <a:ln/>
        </p:spPr>
      </p:sp>
      <p:sp>
        <p:nvSpPr>
          <p:cNvPr id="5" name="Text 3"/>
          <p:cNvSpPr/>
          <p:nvPr/>
        </p:nvSpPr>
        <p:spPr>
          <a:xfrm>
            <a:off x="1308506" y="2356866"/>
            <a:ext cx="4359859"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良い側面</a:t>
            </a:r>
            <a:endParaRPr lang="en-US" sz="1300" dirty="0"/>
          </a:p>
        </p:txBody>
      </p:sp>
      <p:sp>
        <p:nvSpPr>
          <p:cNvPr id="6" name="Shape 4"/>
          <p:cNvSpPr/>
          <p:nvPr/>
        </p:nvSpPr>
        <p:spPr>
          <a:xfrm>
            <a:off x="1308506" y="2859786"/>
            <a:ext cx="4359859" cy="2967228"/>
          </a:xfrm>
          <a:prstGeom prst="rect">
            <a:avLst/>
          </a:prstGeom>
          <a:solidFill>
            <a:srgbClr val="FFFFFF"/>
          </a:solidFill>
          <a:ln w="6350">
            <a:solidFill>
              <a:srgbClr val="10B981"/>
            </a:solidFill>
            <a:prstDash val="solid"/>
          </a:ln>
        </p:spPr>
      </p:sp>
      <p:sp>
        <p:nvSpPr>
          <p:cNvPr id="7" name="Text 5"/>
          <p:cNvSpPr/>
          <p:nvPr/>
        </p:nvSpPr>
        <p:spPr>
          <a:xfrm>
            <a:off x="1674266" y="308610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学習コストが低い</a:t>
            </a:r>
            <a:endParaRPr lang="en-US" sz="1300" dirty="0"/>
          </a:p>
        </p:txBody>
      </p:sp>
      <p:sp>
        <p:nvSpPr>
          <p:cNvPr id="8" name="Text 6"/>
          <p:cNvSpPr/>
          <p:nvPr/>
        </p:nvSpPr>
        <p:spPr>
          <a:xfrm>
            <a:off x="1674266" y="358902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既存システムと衝突しない</a:t>
            </a:r>
            <a:endParaRPr lang="en-US" sz="1300" dirty="0"/>
          </a:p>
        </p:txBody>
      </p:sp>
      <p:sp>
        <p:nvSpPr>
          <p:cNvPr id="9" name="Text 7"/>
          <p:cNvSpPr/>
          <p:nvPr/>
        </p:nvSpPr>
        <p:spPr>
          <a:xfrm>
            <a:off x="1674266" y="409194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段階的に導入できる</a:t>
            </a:r>
            <a:endParaRPr lang="en-US" sz="1300" dirty="0"/>
          </a:p>
        </p:txBody>
      </p:sp>
      <p:sp>
        <p:nvSpPr>
          <p:cNvPr id="10" name="Shape 8"/>
          <p:cNvSpPr/>
          <p:nvPr/>
        </p:nvSpPr>
        <p:spPr>
          <a:xfrm>
            <a:off x="6523330" y="2356866"/>
            <a:ext cx="4359859" cy="502920"/>
          </a:xfrm>
          <a:prstGeom prst="rect">
            <a:avLst/>
          </a:prstGeom>
          <a:solidFill>
            <a:srgbClr val="EF4444"/>
          </a:solidFill>
          <a:ln/>
        </p:spPr>
      </p:sp>
      <p:sp>
        <p:nvSpPr>
          <p:cNvPr id="11" name="Text 9"/>
          <p:cNvSpPr/>
          <p:nvPr/>
        </p:nvSpPr>
        <p:spPr>
          <a:xfrm>
            <a:off x="6523330" y="2356866"/>
            <a:ext cx="4359859"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懸念点</a:t>
            </a:r>
            <a:endParaRPr lang="en-US" sz="1300" dirty="0"/>
          </a:p>
        </p:txBody>
      </p:sp>
      <p:sp>
        <p:nvSpPr>
          <p:cNvPr id="12" name="Shape 10"/>
          <p:cNvSpPr/>
          <p:nvPr/>
        </p:nvSpPr>
        <p:spPr>
          <a:xfrm>
            <a:off x="6523330" y="2859786"/>
            <a:ext cx="4359859" cy="2967228"/>
          </a:xfrm>
          <a:prstGeom prst="rect">
            <a:avLst/>
          </a:prstGeom>
          <a:solidFill>
            <a:srgbClr val="FFFFFF"/>
          </a:solidFill>
          <a:ln w="6350">
            <a:solidFill>
              <a:srgbClr val="EF4444"/>
            </a:solidFill>
            <a:prstDash val="solid"/>
          </a:ln>
        </p:spPr>
      </p:sp>
      <p:sp>
        <p:nvSpPr>
          <p:cNvPr id="13" name="Text 11"/>
          <p:cNvSpPr/>
          <p:nvPr/>
        </p:nvSpPr>
        <p:spPr>
          <a:xfrm>
            <a:off x="6889090" y="308610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長期メンテで属人化しやすい</a:t>
            </a:r>
            <a:endParaRPr lang="en-US" sz="1300" dirty="0"/>
          </a:p>
        </p:txBody>
      </p:sp>
      <p:sp>
        <p:nvSpPr>
          <p:cNvPr id="14" name="Text 12"/>
          <p:cNvSpPr/>
          <p:nvPr/>
        </p:nvSpPr>
        <p:spPr>
          <a:xfrm>
            <a:off x="6889090" y="358902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他資料との表現が不揃いになる</a:t>
            </a:r>
            <a:endParaRPr lang="en-US" sz="1300" dirty="0"/>
          </a:p>
        </p:txBody>
      </p:sp>
      <p:sp>
        <p:nvSpPr>
          <p:cNvPr id="15" name="Text 13"/>
          <p:cNvSpPr/>
          <p:nvPr/>
        </p:nvSpPr>
        <p:spPr>
          <a:xfrm>
            <a:off x="6889090" y="409194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コーポレートテーマの刷新時に追従が困難</a:t>
            </a:r>
            <a:endParaRPr lang="en-US" sz="1300" dirty="0"/>
          </a:p>
        </p:txBody>
      </p:sp>
      <p:sp>
        <p:nvSpPr>
          <p:cNvPr id="16" name="Text 14"/>
          <p:cNvSpPr/>
          <p:nvPr/>
        </p:nvSpPr>
        <p:spPr>
          <a:xfrm>
            <a:off x="6889090" y="459486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レビュー時のチェックポイントが増える</a:t>
            </a:r>
            <a:endParaRPr lang="en-US" sz="1300" dirty="0"/>
          </a:p>
        </p:txBody>
      </p:sp>
      <p:sp>
        <p:nvSpPr>
          <p:cNvPr id="17" name="Text 15"/>
          <p:cNvSpPr/>
          <p:nvPr/>
        </p:nvSpPr>
        <p:spPr>
          <a:xfrm>
            <a:off x="6889090" y="5097780"/>
            <a:ext cx="3811219" cy="502920"/>
          </a:xfrm>
          <a:prstGeom prst="rect">
            <a:avLst/>
          </a:prstGeom>
          <a:noFill/>
          <a:ln/>
        </p:spPr>
        <p:txBody>
          <a:bodyPr wrap="square" lIns="0" tIns="0" rIns="0" bIns="0" rtlCol="0" anchor="ctr"/>
          <a:lstStyle/>
          <a:p>
            <a:pPr marL="342900" indent="-342900">
              <a:buSzPct val="100000"/>
              <a:buChar char="◆"/>
            </a:pPr>
            <a:r>
              <a:rPr lang="en-US" sz="1300" dirty="0">
                <a:solidFill>
                  <a:srgbClr val="111827"/>
                </a:solidFill>
                <a:latin typeface="Yu Gothic" pitchFamily="34" charset="0"/>
                <a:ea typeface="Yu Gothic" pitchFamily="34" charset="-122"/>
                <a:cs typeface="Yu Gothic" pitchFamily="34" charset="-120"/>
              </a:rPr>
              <a:t>障害発生時の原因切り分けが難しくなる</a:t>
            </a:r>
            <a:endParaRPr lang="en-US" sz="1300" dirty="0"/>
          </a:p>
        </p:txBody>
      </p:sp>
      <p:sp>
        <p:nvSpPr>
          <p:cNvPr id="18" name="Text 16"/>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比較系の例</a:t>
            </a:r>
            <a:endParaRPr lang="en-US" sz="900" dirty="0"/>
          </a:p>
        </p:txBody>
      </p:sp>
      <p:sp>
        <p:nvSpPr>
          <p:cNvPr id="19" name="Text 17"/>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94360" y="2103120"/>
            <a:ext cx="11002975" cy="411480"/>
          </a:xfrm>
          <a:prstGeom prst="rect">
            <a:avLst/>
          </a:prstGeom>
          <a:noFill/>
          <a:ln/>
        </p:spPr>
        <p:txBody>
          <a:bodyPr wrap="square" rtlCol="0" anchor="ctr"/>
          <a:lstStyle/>
          <a:p>
            <a:pPr algn="ctr" indent="0" marL="0">
              <a:buNone/>
            </a:pPr>
            <a:r>
              <a:rPr lang="en-US" sz="1800" b="1" dirty="0">
                <a:solidFill>
                  <a:srgbClr val="2563EB"/>
                </a:solidFill>
                <a:latin typeface="Yu Gothic" pitchFamily="34" charset="0"/>
                <a:ea typeface="Yu Gothic" pitchFamily="34" charset="-122"/>
                <a:cs typeface="Yu Gothic" pitchFamily="34" charset="-120"/>
              </a:rPr>
              <a:t>Section 3</a:t>
            </a:r>
            <a:endParaRPr lang="en-US" sz="1800" dirty="0"/>
          </a:p>
        </p:txBody>
      </p:sp>
      <p:sp>
        <p:nvSpPr>
          <p:cNvPr id="3" name="Text 1"/>
          <p:cNvSpPr/>
          <p:nvPr/>
        </p:nvSpPr>
        <p:spPr>
          <a:xfrm>
            <a:off x="594360" y="2834640"/>
            <a:ext cx="11002975" cy="1463040"/>
          </a:xfrm>
          <a:prstGeom prst="rect">
            <a:avLst/>
          </a:prstGeom>
          <a:noFill/>
          <a:ln/>
        </p:spPr>
        <p:txBody>
          <a:bodyPr wrap="square" rtlCol="0" anchor="ctr"/>
          <a:lstStyle/>
          <a:p>
            <a:pPr algn="ctr" indent="0" marL="0">
              <a:lnSpc>
                <a:spcPct val="120000"/>
              </a:lnSpc>
              <a:buNone/>
            </a:pPr>
            <a:r>
              <a:rPr lang="en-US" sz="3200" b="1" dirty="0">
                <a:solidFill>
                  <a:srgbClr val="111827"/>
                </a:solidFill>
                <a:latin typeface="Yu Gothic" pitchFamily="34" charset="0"/>
                <a:ea typeface="Yu Gothic" pitchFamily="34" charset="-122"/>
                <a:cs typeface="Yu Gothic" pitchFamily="34" charset="-120"/>
              </a:rPr>
              <a:t>写真系の kind</a:t>
            </a:r>
            <a:endParaRPr lang="en-US" sz="3200" dirty="0"/>
          </a:p>
        </p:txBody>
      </p:sp>
      <p:sp>
        <p:nvSpPr>
          <p:cNvPr id="4" name="Text 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photo-card ─ 事例紹介（右に写真 / 左にカード）</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右に写真エリア (6/10)、左に箇条書きカード (4/10)。間に gap を取り、写真は 4:3 を contain で配置する。</a:t>
            </a:r>
            <a:endParaRPr lang="en-US" sz="1300" dirty="0"/>
          </a:p>
        </p:txBody>
      </p:sp>
      <p:sp>
        <p:nvSpPr>
          <p:cNvPr id="4" name="Shape 2"/>
          <p:cNvSpPr/>
          <p:nvPr/>
        </p:nvSpPr>
        <p:spPr>
          <a:xfrm>
            <a:off x="960870" y="2051914"/>
            <a:ext cx="3931320" cy="4080053"/>
          </a:xfrm>
          <a:prstGeom prst="rect">
            <a:avLst/>
          </a:prstGeom>
          <a:solidFill>
            <a:srgbClr val="F9FAFB"/>
          </a:solidFill>
          <a:ln/>
        </p:spPr>
      </p:sp>
      <p:sp>
        <p:nvSpPr>
          <p:cNvPr id="5" name="Text 3"/>
          <p:cNvSpPr/>
          <p:nvPr/>
        </p:nvSpPr>
        <p:spPr>
          <a:xfrm>
            <a:off x="1125462" y="2253082"/>
            <a:ext cx="3602136"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導入事例: 某社の業務効率化</a:t>
            </a:r>
            <a:endParaRPr lang="en-US" sz="1300" dirty="0"/>
          </a:p>
        </p:txBody>
      </p:sp>
      <p:sp>
        <p:nvSpPr>
          <p:cNvPr id="6" name="Text 4"/>
          <p:cNvSpPr/>
          <p:nvPr/>
        </p:nvSpPr>
        <p:spPr>
          <a:xfrm>
            <a:off x="1125462" y="2746858"/>
            <a:ext cx="3602136" cy="3001061"/>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課題: 月次レポート作成に 3 日</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施策: テンプレ化と集計の自動化</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成果: 作業時間を 1/8 まで短縮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副次効果: レビュー工数も合わせて削減</a:t>
            </a:r>
            <a:endParaRPr lang="en-US" sz="1300" dirty="0"/>
          </a:p>
        </p:txBody>
      </p:sp>
      <p:pic>
        <p:nvPicPr>
          <p:cNvPr id="7" name="Image 0" descr="/Users/kazuya.horiuchi/git-private/ppt-ai-work/deckgen/assets/samples/case-1.png">    </p:cNvPr>
          <p:cNvPicPr>
            <a:picLocks noChangeAspect="1"/>
          </p:cNvPicPr>
          <p:nvPr/>
        </p:nvPicPr>
        <p:blipFill>
          <a:blip r:embed="rId1"/>
          <a:srcRect l="0" r="0" t="0" b="0"/>
          <a:stretch/>
        </p:blipFill>
        <p:spPr>
          <a:xfrm>
            <a:off x="5333845" y="2051914"/>
            <a:ext cx="5896980" cy="4080053"/>
          </a:xfrm>
          <a:prstGeom prst="rect">
            <a:avLst/>
          </a:prstGeom>
        </p:spPr>
      </p:pic>
      <p:sp>
        <p:nvSpPr>
          <p:cNvPr id="8" name="Text 5"/>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写真系の例</a:t>
            </a:r>
            <a:endParaRPr lang="en-US" sz="900" dirty="0"/>
          </a:p>
        </p:txBody>
      </p:sp>
      <p:sp>
        <p:nvSpPr>
          <p:cNvPr id="9" name="Text 6"/>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94360" y="2103120"/>
            <a:ext cx="11002975" cy="411480"/>
          </a:xfrm>
          <a:prstGeom prst="rect">
            <a:avLst/>
          </a:prstGeom>
          <a:noFill/>
          <a:ln/>
        </p:spPr>
        <p:txBody>
          <a:bodyPr wrap="square" rtlCol="0" anchor="ctr"/>
          <a:lstStyle/>
          <a:p>
            <a:pPr algn="ctr" indent="0" marL="0">
              <a:buNone/>
            </a:pPr>
            <a:r>
              <a:rPr lang="en-US" sz="1800" b="1" dirty="0">
                <a:solidFill>
                  <a:srgbClr val="2563EB"/>
                </a:solidFill>
                <a:latin typeface="Yu Gothic" pitchFamily="34" charset="0"/>
                <a:ea typeface="Yu Gothic" pitchFamily="34" charset="-122"/>
                <a:cs typeface="Yu Gothic" pitchFamily="34" charset="-120"/>
              </a:rPr>
              <a:t>Section 4</a:t>
            </a:r>
            <a:endParaRPr lang="en-US" sz="1800" dirty="0"/>
          </a:p>
        </p:txBody>
      </p:sp>
      <p:sp>
        <p:nvSpPr>
          <p:cNvPr id="3" name="Text 1"/>
          <p:cNvSpPr/>
          <p:nvPr/>
        </p:nvSpPr>
        <p:spPr>
          <a:xfrm>
            <a:off x="594360" y="2834640"/>
            <a:ext cx="11002975" cy="1463040"/>
          </a:xfrm>
          <a:prstGeom prst="rect">
            <a:avLst/>
          </a:prstGeom>
          <a:noFill/>
          <a:ln/>
        </p:spPr>
        <p:txBody>
          <a:bodyPr wrap="square" rtlCol="0" anchor="ctr"/>
          <a:lstStyle/>
          <a:p>
            <a:pPr algn="ctr" indent="0" marL="0">
              <a:lnSpc>
                <a:spcPct val="120000"/>
              </a:lnSpc>
              <a:buNone/>
            </a:pPr>
            <a:r>
              <a:rPr lang="en-US" sz="3200" b="1" dirty="0">
                <a:solidFill>
                  <a:srgbClr val="111827"/>
                </a:solidFill>
                <a:latin typeface="Yu Gothic" pitchFamily="34" charset="0"/>
                <a:ea typeface="Yu Gothic" pitchFamily="34" charset="-122"/>
                <a:cs typeface="Yu Gothic" pitchFamily="34" charset="-120"/>
              </a:rPr>
              <a:t>図形系の kind</a:t>
            </a:r>
            <a:endParaRPr lang="en-US" sz="3200" dirty="0"/>
          </a:p>
        </p:txBody>
      </p:sp>
      <p:sp>
        <p:nvSpPr>
          <p:cNvPr id="4" name="Text 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flow-diagram ─ 直列フロー</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A → B → C 形式の単線フロー。各ボックスにラベル + 短い説明を入れる。</a:t>
            </a:r>
            <a:endParaRPr lang="en-US" sz="1300" dirty="0"/>
          </a:p>
        </p:txBody>
      </p:sp>
      <p:sp>
        <p:nvSpPr>
          <p:cNvPr id="4" name="Shape 2"/>
          <p:cNvSpPr/>
          <p:nvPr/>
        </p:nvSpPr>
        <p:spPr>
          <a:xfrm>
            <a:off x="594360" y="3187406"/>
            <a:ext cx="2407844" cy="1316736"/>
          </a:xfrm>
          <a:prstGeom prst="roundRect">
            <a:avLst>
              <a:gd name="adj" fmla="val 5556"/>
            </a:avLst>
          </a:prstGeom>
          <a:solidFill>
            <a:srgbClr val="F9FAFB"/>
          </a:solidFill>
          <a:ln w="12700">
            <a:solidFill>
              <a:srgbClr val="2563EB"/>
            </a:solidFill>
            <a:prstDash val="solid"/>
          </a:ln>
        </p:spPr>
      </p:sp>
      <p:sp>
        <p:nvSpPr>
          <p:cNvPr id="5" name="Text 3"/>
          <p:cNvSpPr/>
          <p:nvPr/>
        </p:nvSpPr>
        <p:spPr>
          <a:xfrm>
            <a:off x="704088" y="3278846"/>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情報源を読む</a:t>
            </a:r>
            <a:endParaRPr lang="en-US" sz="1300" dirty="0"/>
          </a:p>
        </p:txBody>
      </p:sp>
      <p:sp>
        <p:nvSpPr>
          <p:cNvPr id="6" name="Text 4"/>
          <p:cNvSpPr/>
          <p:nvPr/>
        </p:nvSpPr>
        <p:spPr>
          <a:xfrm>
            <a:off x="704088" y="3690326"/>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元資料・ヒアリングメモ等の入力</a:t>
            </a:r>
            <a:endParaRPr lang="en-US" sz="1000" dirty="0"/>
          </a:p>
        </p:txBody>
      </p:sp>
      <p:sp>
        <p:nvSpPr>
          <p:cNvPr id="7" name="Shape 5"/>
          <p:cNvSpPr/>
          <p:nvPr/>
        </p:nvSpPr>
        <p:spPr>
          <a:xfrm>
            <a:off x="3002204" y="3662894"/>
            <a:ext cx="457200" cy="365760"/>
          </a:xfrm>
          <a:prstGeom prst="rightArrow">
            <a:avLst/>
          </a:prstGeom>
          <a:solidFill>
            <a:srgbClr val="2563EB"/>
          </a:solidFill>
          <a:ln/>
        </p:spPr>
      </p:sp>
      <p:sp>
        <p:nvSpPr>
          <p:cNvPr id="8" name="Shape 6"/>
          <p:cNvSpPr/>
          <p:nvPr/>
        </p:nvSpPr>
        <p:spPr>
          <a:xfrm>
            <a:off x="3459404" y="3187406"/>
            <a:ext cx="2407844" cy="1316736"/>
          </a:xfrm>
          <a:prstGeom prst="roundRect">
            <a:avLst>
              <a:gd name="adj" fmla="val 5556"/>
            </a:avLst>
          </a:prstGeom>
          <a:solidFill>
            <a:srgbClr val="F9FAFB"/>
          </a:solidFill>
          <a:ln w="12700">
            <a:solidFill>
              <a:srgbClr val="2563EB"/>
            </a:solidFill>
            <a:prstDash val="solid"/>
          </a:ln>
        </p:spPr>
      </p:sp>
      <p:sp>
        <p:nvSpPr>
          <p:cNvPr id="9" name="Text 7"/>
          <p:cNvSpPr/>
          <p:nvPr/>
        </p:nvSpPr>
        <p:spPr>
          <a:xfrm>
            <a:off x="3569132" y="3278846"/>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構成を考える</a:t>
            </a:r>
            <a:endParaRPr lang="en-US" sz="1300" dirty="0"/>
          </a:p>
        </p:txBody>
      </p:sp>
      <p:sp>
        <p:nvSpPr>
          <p:cNvPr id="10" name="Text 8"/>
          <p:cNvSpPr/>
          <p:nvPr/>
        </p:nvSpPr>
        <p:spPr>
          <a:xfrm>
            <a:off x="3569132" y="3690326"/>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AI が kind を選定</a:t>
            </a:r>
            <a:endParaRPr lang="en-US" sz="1000" dirty="0"/>
          </a:p>
        </p:txBody>
      </p:sp>
      <p:sp>
        <p:nvSpPr>
          <p:cNvPr id="11" name="Shape 9"/>
          <p:cNvSpPr/>
          <p:nvPr/>
        </p:nvSpPr>
        <p:spPr>
          <a:xfrm>
            <a:off x="5867248" y="3662894"/>
            <a:ext cx="457200" cy="365760"/>
          </a:xfrm>
          <a:prstGeom prst="rightArrow">
            <a:avLst/>
          </a:prstGeom>
          <a:solidFill>
            <a:srgbClr val="2563EB"/>
          </a:solidFill>
          <a:ln/>
        </p:spPr>
      </p:sp>
      <p:sp>
        <p:nvSpPr>
          <p:cNvPr id="12" name="Shape 10"/>
          <p:cNvSpPr/>
          <p:nvPr/>
        </p:nvSpPr>
        <p:spPr>
          <a:xfrm>
            <a:off x="6324448" y="3187406"/>
            <a:ext cx="2407844" cy="1316736"/>
          </a:xfrm>
          <a:prstGeom prst="roundRect">
            <a:avLst>
              <a:gd name="adj" fmla="val 5556"/>
            </a:avLst>
          </a:prstGeom>
          <a:solidFill>
            <a:srgbClr val="F9FAFB"/>
          </a:solidFill>
          <a:ln w="12700">
            <a:solidFill>
              <a:srgbClr val="2563EB"/>
            </a:solidFill>
            <a:prstDash val="solid"/>
          </a:ln>
        </p:spPr>
      </p:sp>
      <p:sp>
        <p:nvSpPr>
          <p:cNvPr id="13" name="Text 11"/>
          <p:cNvSpPr/>
          <p:nvPr/>
        </p:nvSpPr>
        <p:spPr>
          <a:xfrm>
            <a:off x="6434176" y="3278846"/>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deck.js 生成</a:t>
            </a:r>
            <a:endParaRPr lang="en-US" sz="1300" dirty="0"/>
          </a:p>
        </p:txBody>
      </p:sp>
      <p:sp>
        <p:nvSpPr>
          <p:cNvPr id="14" name="Text 12"/>
          <p:cNvSpPr/>
          <p:nvPr/>
        </p:nvSpPr>
        <p:spPr>
          <a:xfrm>
            <a:off x="6434176" y="3690326"/>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宣言データを書き出す</a:t>
            </a:r>
            <a:endParaRPr lang="en-US" sz="1000" dirty="0"/>
          </a:p>
        </p:txBody>
      </p:sp>
      <p:sp>
        <p:nvSpPr>
          <p:cNvPr id="15" name="Shape 13"/>
          <p:cNvSpPr/>
          <p:nvPr/>
        </p:nvSpPr>
        <p:spPr>
          <a:xfrm>
            <a:off x="8732291" y="3662894"/>
            <a:ext cx="457200" cy="365760"/>
          </a:xfrm>
          <a:prstGeom prst="rightArrow">
            <a:avLst/>
          </a:prstGeom>
          <a:solidFill>
            <a:srgbClr val="2563EB"/>
          </a:solidFill>
          <a:ln/>
        </p:spPr>
      </p:sp>
      <p:sp>
        <p:nvSpPr>
          <p:cNvPr id="16" name="Shape 14"/>
          <p:cNvSpPr/>
          <p:nvPr/>
        </p:nvSpPr>
        <p:spPr>
          <a:xfrm>
            <a:off x="9189491" y="3187406"/>
            <a:ext cx="2407844" cy="1316736"/>
          </a:xfrm>
          <a:prstGeom prst="roundRect">
            <a:avLst>
              <a:gd name="adj" fmla="val 5556"/>
            </a:avLst>
          </a:prstGeom>
          <a:solidFill>
            <a:srgbClr val="F9FAFB"/>
          </a:solidFill>
          <a:ln w="12700">
            <a:solidFill>
              <a:srgbClr val="2563EB"/>
            </a:solidFill>
            <a:prstDash val="solid"/>
          </a:ln>
        </p:spPr>
      </p:sp>
      <p:sp>
        <p:nvSpPr>
          <p:cNvPr id="17" name="Text 15"/>
          <p:cNvSpPr/>
          <p:nvPr/>
        </p:nvSpPr>
        <p:spPr>
          <a:xfrm>
            <a:off x="9299219" y="3278846"/>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pptx 出力</a:t>
            </a:r>
            <a:endParaRPr lang="en-US" sz="1300" dirty="0"/>
          </a:p>
        </p:txBody>
      </p:sp>
      <p:sp>
        <p:nvSpPr>
          <p:cNvPr id="18" name="Text 16"/>
          <p:cNvSpPr/>
          <p:nvPr/>
        </p:nvSpPr>
        <p:spPr>
          <a:xfrm>
            <a:off x="9299219" y="3690326"/>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renderer がレンダリング</a:t>
            </a:r>
            <a:endParaRPr lang="en-US" sz="1000" dirty="0"/>
          </a:p>
        </p:txBody>
      </p:sp>
      <p:sp>
        <p:nvSpPr>
          <p:cNvPr id="19" name="Text 17"/>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図形系の例</a:t>
            </a:r>
            <a:endParaRPr lang="en-US" sz="900" dirty="0"/>
          </a:p>
        </p:txBody>
      </p:sp>
      <p:sp>
        <p:nvSpPr>
          <p:cNvPr id="20" name="Text 18"/>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flow-diagram ─ U ターン配置（5 ステップ以上）</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steps が 5 個以上になると 2 列の U ターン配置になる。最大 8 個。</a:t>
            </a:r>
            <a:endParaRPr lang="en-US" sz="1300" dirty="0"/>
          </a:p>
        </p:txBody>
      </p:sp>
      <p:sp>
        <p:nvSpPr>
          <p:cNvPr id="4" name="Shape 2"/>
          <p:cNvSpPr/>
          <p:nvPr/>
        </p:nvSpPr>
        <p:spPr>
          <a:xfrm>
            <a:off x="594360" y="2421235"/>
            <a:ext cx="2407844" cy="1316736"/>
          </a:xfrm>
          <a:prstGeom prst="roundRect">
            <a:avLst>
              <a:gd name="adj" fmla="val 5556"/>
            </a:avLst>
          </a:prstGeom>
          <a:solidFill>
            <a:srgbClr val="F9FAFB"/>
          </a:solidFill>
          <a:ln w="12700">
            <a:solidFill>
              <a:srgbClr val="2563EB"/>
            </a:solidFill>
            <a:prstDash val="solid"/>
          </a:ln>
        </p:spPr>
      </p:sp>
      <p:sp>
        <p:nvSpPr>
          <p:cNvPr id="5" name="Text 3"/>
          <p:cNvSpPr/>
          <p:nvPr/>
        </p:nvSpPr>
        <p:spPr>
          <a:xfrm>
            <a:off x="704088" y="2512675"/>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要件整理</a:t>
            </a:r>
            <a:endParaRPr lang="en-US" sz="1300" dirty="0"/>
          </a:p>
        </p:txBody>
      </p:sp>
      <p:sp>
        <p:nvSpPr>
          <p:cNvPr id="6" name="Text 4"/>
          <p:cNvSpPr/>
          <p:nvPr/>
        </p:nvSpPr>
        <p:spPr>
          <a:xfrm>
            <a:off x="704088" y="2924155"/>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目的とスコープを確定</a:t>
            </a:r>
            <a:endParaRPr lang="en-US" sz="1000" dirty="0"/>
          </a:p>
        </p:txBody>
      </p:sp>
      <p:sp>
        <p:nvSpPr>
          <p:cNvPr id="7" name="Shape 5"/>
          <p:cNvSpPr/>
          <p:nvPr/>
        </p:nvSpPr>
        <p:spPr>
          <a:xfrm>
            <a:off x="3002204" y="2896723"/>
            <a:ext cx="457200" cy="365760"/>
          </a:xfrm>
          <a:prstGeom prst="rightArrow">
            <a:avLst/>
          </a:prstGeom>
          <a:solidFill>
            <a:srgbClr val="2563EB"/>
          </a:solidFill>
          <a:ln/>
        </p:spPr>
      </p:sp>
      <p:sp>
        <p:nvSpPr>
          <p:cNvPr id="8" name="Shape 6"/>
          <p:cNvSpPr/>
          <p:nvPr/>
        </p:nvSpPr>
        <p:spPr>
          <a:xfrm>
            <a:off x="3459404" y="2421235"/>
            <a:ext cx="2407844" cy="1316736"/>
          </a:xfrm>
          <a:prstGeom prst="roundRect">
            <a:avLst>
              <a:gd name="adj" fmla="val 5556"/>
            </a:avLst>
          </a:prstGeom>
          <a:solidFill>
            <a:srgbClr val="F9FAFB"/>
          </a:solidFill>
          <a:ln w="12700">
            <a:solidFill>
              <a:srgbClr val="2563EB"/>
            </a:solidFill>
            <a:prstDash val="solid"/>
          </a:ln>
        </p:spPr>
      </p:sp>
      <p:sp>
        <p:nvSpPr>
          <p:cNvPr id="9" name="Text 7"/>
          <p:cNvSpPr/>
          <p:nvPr/>
        </p:nvSpPr>
        <p:spPr>
          <a:xfrm>
            <a:off x="3569132" y="2512675"/>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情報源収集</a:t>
            </a:r>
            <a:endParaRPr lang="en-US" sz="1300" dirty="0"/>
          </a:p>
        </p:txBody>
      </p:sp>
      <p:sp>
        <p:nvSpPr>
          <p:cNvPr id="10" name="Text 8"/>
          <p:cNvSpPr/>
          <p:nvPr/>
        </p:nvSpPr>
        <p:spPr>
          <a:xfrm>
            <a:off x="3569132" y="2924155"/>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元資料・メモを揃える</a:t>
            </a:r>
            <a:endParaRPr lang="en-US" sz="1000" dirty="0"/>
          </a:p>
        </p:txBody>
      </p:sp>
      <p:sp>
        <p:nvSpPr>
          <p:cNvPr id="11" name="Shape 9"/>
          <p:cNvSpPr/>
          <p:nvPr/>
        </p:nvSpPr>
        <p:spPr>
          <a:xfrm>
            <a:off x="5867248" y="2896723"/>
            <a:ext cx="457200" cy="365760"/>
          </a:xfrm>
          <a:prstGeom prst="rightArrow">
            <a:avLst/>
          </a:prstGeom>
          <a:solidFill>
            <a:srgbClr val="2563EB"/>
          </a:solidFill>
          <a:ln/>
        </p:spPr>
      </p:sp>
      <p:sp>
        <p:nvSpPr>
          <p:cNvPr id="12" name="Shape 10"/>
          <p:cNvSpPr/>
          <p:nvPr/>
        </p:nvSpPr>
        <p:spPr>
          <a:xfrm>
            <a:off x="6324448" y="2421235"/>
            <a:ext cx="2407844" cy="1316736"/>
          </a:xfrm>
          <a:prstGeom prst="roundRect">
            <a:avLst>
              <a:gd name="adj" fmla="val 5556"/>
            </a:avLst>
          </a:prstGeom>
          <a:solidFill>
            <a:srgbClr val="F9FAFB"/>
          </a:solidFill>
          <a:ln w="12700">
            <a:solidFill>
              <a:srgbClr val="2563EB"/>
            </a:solidFill>
            <a:prstDash val="solid"/>
          </a:ln>
        </p:spPr>
      </p:sp>
      <p:sp>
        <p:nvSpPr>
          <p:cNvPr id="13" name="Text 11"/>
          <p:cNvSpPr/>
          <p:nvPr/>
        </p:nvSpPr>
        <p:spPr>
          <a:xfrm>
            <a:off x="6434176" y="2512675"/>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構成設計</a:t>
            </a:r>
            <a:endParaRPr lang="en-US" sz="1300" dirty="0"/>
          </a:p>
        </p:txBody>
      </p:sp>
      <p:sp>
        <p:nvSpPr>
          <p:cNvPr id="14" name="Text 12"/>
          <p:cNvSpPr/>
          <p:nvPr/>
        </p:nvSpPr>
        <p:spPr>
          <a:xfrm>
            <a:off x="6434176" y="2924155"/>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kind へのマッピング</a:t>
            </a:r>
            <a:endParaRPr lang="en-US" sz="1000" dirty="0"/>
          </a:p>
        </p:txBody>
      </p:sp>
      <p:sp>
        <p:nvSpPr>
          <p:cNvPr id="15" name="Shape 13"/>
          <p:cNvSpPr/>
          <p:nvPr/>
        </p:nvSpPr>
        <p:spPr>
          <a:xfrm>
            <a:off x="8732291" y="2896723"/>
            <a:ext cx="457200" cy="365760"/>
          </a:xfrm>
          <a:prstGeom prst="rightArrow">
            <a:avLst/>
          </a:prstGeom>
          <a:solidFill>
            <a:srgbClr val="2563EB"/>
          </a:solidFill>
          <a:ln/>
        </p:spPr>
      </p:sp>
      <p:sp>
        <p:nvSpPr>
          <p:cNvPr id="16" name="Shape 14"/>
          <p:cNvSpPr/>
          <p:nvPr/>
        </p:nvSpPr>
        <p:spPr>
          <a:xfrm>
            <a:off x="9189491" y="2421235"/>
            <a:ext cx="2407844" cy="1316736"/>
          </a:xfrm>
          <a:prstGeom prst="roundRect">
            <a:avLst>
              <a:gd name="adj" fmla="val 5556"/>
            </a:avLst>
          </a:prstGeom>
          <a:solidFill>
            <a:srgbClr val="F9FAFB"/>
          </a:solidFill>
          <a:ln w="12700">
            <a:solidFill>
              <a:srgbClr val="2563EB"/>
            </a:solidFill>
            <a:prstDash val="solid"/>
          </a:ln>
        </p:spPr>
      </p:sp>
      <p:sp>
        <p:nvSpPr>
          <p:cNvPr id="17" name="Text 15"/>
          <p:cNvSpPr/>
          <p:nvPr/>
        </p:nvSpPr>
        <p:spPr>
          <a:xfrm>
            <a:off x="9299219" y="2512675"/>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deck.js 生成</a:t>
            </a:r>
            <a:endParaRPr lang="en-US" sz="1300" dirty="0"/>
          </a:p>
        </p:txBody>
      </p:sp>
      <p:sp>
        <p:nvSpPr>
          <p:cNvPr id="18" name="Text 16"/>
          <p:cNvSpPr/>
          <p:nvPr/>
        </p:nvSpPr>
        <p:spPr>
          <a:xfrm>
            <a:off x="9299219" y="2924155"/>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宣言データを書き出す</a:t>
            </a:r>
            <a:endParaRPr lang="en-US" sz="1000" dirty="0"/>
          </a:p>
        </p:txBody>
      </p:sp>
      <p:sp>
        <p:nvSpPr>
          <p:cNvPr id="19" name="Shape 17"/>
          <p:cNvSpPr/>
          <p:nvPr/>
        </p:nvSpPr>
        <p:spPr>
          <a:xfrm>
            <a:off x="10210533" y="3737971"/>
            <a:ext cx="365760" cy="502920"/>
          </a:xfrm>
          <a:prstGeom prst="downArrow">
            <a:avLst/>
          </a:prstGeom>
          <a:solidFill>
            <a:srgbClr val="2563EB"/>
          </a:solidFill>
          <a:ln/>
        </p:spPr>
      </p:sp>
      <p:sp>
        <p:nvSpPr>
          <p:cNvPr id="20" name="Shape 18"/>
          <p:cNvSpPr/>
          <p:nvPr/>
        </p:nvSpPr>
        <p:spPr>
          <a:xfrm>
            <a:off x="9189491" y="4240891"/>
            <a:ext cx="2407844" cy="1316736"/>
          </a:xfrm>
          <a:prstGeom prst="roundRect">
            <a:avLst>
              <a:gd name="adj" fmla="val 5556"/>
            </a:avLst>
          </a:prstGeom>
          <a:solidFill>
            <a:srgbClr val="F9FAFB"/>
          </a:solidFill>
          <a:ln w="12700">
            <a:solidFill>
              <a:srgbClr val="2563EB"/>
            </a:solidFill>
            <a:prstDash val="solid"/>
          </a:ln>
        </p:spPr>
      </p:sp>
      <p:sp>
        <p:nvSpPr>
          <p:cNvPr id="21" name="Text 19"/>
          <p:cNvSpPr/>
          <p:nvPr/>
        </p:nvSpPr>
        <p:spPr>
          <a:xfrm>
            <a:off x="9299219" y="4332331"/>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レンダリング</a:t>
            </a:r>
            <a:endParaRPr lang="en-US" sz="1300" dirty="0"/>
          </a:p>
        </p:txBody>
      </p:sp>
      <p:sp>
        <p:nvSpPr>
          <p:cNvPr id="22" name="Text 20"/>
          <p:cNvSpPr/>
          <p:nvPr/>
        </p:nvSpPr>
        <p:spPr>
          <a:xfrm>
            <a:off x="9299219" y="4743811"/>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renderer で pptx 化</a:t>
            </a:r>
            <a:endParaRPr lang="en-US" sz="1000" dirty="0"/>
          </a:p>
        </p:txBody>
      </p:sp>
      <p:sp>
        <p:nvSpPr>
          <p:cNvPr id="23" name="Shape 21"/>
          <p:cNvSpPr/>
          <p:nvPr/>
        </p:nvSpPr>
        <p:spPr>
          <a:xfrm>
            <a:off x="8732291" y="4716379"/>
            <a:ext cx="457200" cy="365760"/>
          </a:xfrm>
          <a:prstGeom prst="leftArrow">
            <a:avLst/>
          </a:prstGeom>
          <a:solidFill>
            <a:srgbClr val="2563EB"/>
          </a:solidFill>
          <a:ln/>
        </p:spPr>
      </p:sp>
      <p:sp>
        <p:nvSpPr>
          <p:cNvPr id="24" name="Shape 22"/>
          <p:cNvSpPr/>
          <p:nvPr/>
        </p:nvSpPr>
        <p:spPr>
          <a:xfrm>
            <a:off x="6324448" y="4240891"/>
            <a:ext cx="2407844" cy="1316736"/>
          </a:xfrm>
          <a:prstGeom prst="roundRect">
            <a:avLst>
              <a:gd name="adj" fmla="val 5556"/>
            </a:avLst>
          </a:prstGeom>
          <a:solidFill>
            <a:srgbClr val="F9FAFB"/>
          </a:solidFill>
          <a:ln w="12700">
            <a:solidFill>
              <a:srgbClr val="2563EB"/>
            </a:solidFill>
            <a:prstDash val="solid"/>
          </a:ln>
        </p:spPr>
      </p:sp>
      <p:sp>
        <p:nvSpPr>
          <p:cNvPr id="25" name="Text 23"/>
          <p:cNvSpPr/>
          <p:nvPr/>
        </p:nvSpPr>
        <p:spPr>
          <a:xfrm>
            <a:off x="6434176" y="4332331"/>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目視確認</a:t>
            </a:r>
            <a:endParaRPr lang="en-US" sz="1300" dirty="0"/>
          </a:p>
        </p:txBody>
      </p:sp>
      <p:sp>
        <p:nvSpPr>
          <p:cNvPr id="26" name="Text 24"/>
          <p:cNvSpPr/>
          <p:nvPr/>
        </p:nvSpPr>
        <p:spPr>
          <a:xfrm>
            <a:off x="6434176" y="4743811"/>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崩れ・過密をチェック</a:t>
            </a:r>
            <a:endParaRPr lang="en-US" sz="1000" dirty="0"/>
          </a:p>
        </p:txBody>
      </p:sp>
      <p:sp>
        <p:nvSpPr>
          <p:cNvPr id="27" name="Shape 25"/>
          <p:cNvSpPr/>
          <p:nvPr/>
        </p:nvSpPr>
        <p:spPr>
          <a:xfrm>
            <a:off x="5867248" y="4716379"/>
            <a:ext cx="457200" cy="365760"/>
          </a:xfrm>
          <a:prstGeom prst="leftArrow">
            <a:avLst/>
          </a:prstGeom>
          <a:solidFill>
            <a:srgbClr val="2563EB"/>
          </a:solidFill>
          <a:ln/>
        </p:spPr>
      </p:sp>
      <p:sp>
        <p:nvSpPr>
          <p:cNvPr id="28" name="Shape 26"/>
          <p:cNvSpPr/>
          <p:nvPr/>
        </p:nvSpPr>
        <p:spPr>
          <a:xfrm>
            <a:off x="3459404" y="4240891"/>
            <a:ext cx="2407844" cy="1316736"/>
          </a:xfrm>
          <a:prstGeom prst="roundRect">
            <a:avLst>
              <a:gd name="adj" fmla="val 5556"/>
            </a:avLst>
          </a:prstGeom>
          <a:solidFill>
            <a:srgbClr val="F9FAFB"/>
          </a:solidFill>
          <a:ln w="12700">
            <a:solidFill>
              <a:srgbClr val="2563EB"/>
            </a:solidFill>
            <a:prstDash val="solid"/>
          </a:ln>
        </p:spPr>
      </p:sp>
      <p:sp>
        <p:nvSpPr>
          <p:cNvPr id="29" name="Text 27"/>
          <p:cNvSpPr/>
          <p:nvPr/>
        </p:nvSpPr>
        <p:spPr>
          <a:xfrm>
            <a:off x="3569132" y="4332331"/>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修正反映</a:t>
            </a:r>
            <a:endParaRPr lang="en-US" sz="1300" dirty="0"/>
          </a:p>
        </p:txBody>
      </p:sp>
      <p:sp>
        <p:nvSpPr>
          <p:cNvPr id="30" name="Text 28"/>
          <p:cNvSpPr/>
          <p:nvPr/>
        </p:nvSpPr>
        <p:spPr>
          <a:xfrm>
            <a:off x="3569132" y="4743811"/>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deck.js を調整して再生成</a:t>
            </a:r>
            <a:endParaRPr lang="en-US" sz="1000" dirty="0"/>
          </a:p>
        </p:txBody>
      </p:sp>
      <p:sp>
        <p:nvSpPr>
          <p:cNvPr id="31" name="Shape 29"/>
          <p:cNvSpPr/>
          <p:nvPr/>
        </p:nvSpPr>
        <p:spPr>
          <a:xfrm>
            <a:off x="3002204" y="4716379"/>
            <a:ext cx="457200" cy="365760"/>
          </a:xfrm>
          <a:prstGeom prst="leftArrow">
            <a:avLst/>
          </a:prstGeom>
          <a:solidFill>
            <a:srgbClr val="2563EB"/>
          </a:solidFill>
          <a:ln/>
        </p:spPr>
      </p:sp>
      <p:sp>
        <p:nvSpPr>
          <p:cNvPr id="32" name="Shape 30"/>
          <p:cNvSpPr/>
          <p:nvPr/>
        </p:nvSpPr>
        <p:spPr>
          <a:xfrm>
            <a:off x="594360" y="4240891"/>
            <a:ext cx="2407844" cy="1316736"/>
          </a:xfrm>
          <a:prstGeom prst="roundRect">
            <a:avLst>
              <a:gd name="adj" fmla="val 5556"/>
            </a:avLst>
          </a:prstGeom>
          <a:solidFill>
            <a:srgbClr val="F9FAFB"/>
          </a:solidFill>
          <a:ln w="12700">
            <a:solidFill>
              <a:srgbClr val="2563EB"/>
            </a:solidFill>
            <a:prstDash val="solid"/>
          </a:ln>
        </p:spPr>
      </p:sp>
      <p:sp>
        <p:nvSpPr>
          <p:cNvPr id="33" name="Text 31"/>
          <p:cNvSpPr/>
          <p:nvPr/>
        </p:nvSpPr>
        <p:spPr>
          <a:xfrm>
            <a:off x="704088" y="4332331"/>
            <a:ext cx="2188388" cy="365760"/>
          </a:xfrm>
          <a:prstGeom prst="rect">
            <a:avLst/>
          </a:prstGeom>
          <a:noFill/>
          <a:ln/>
        </p:spPr>
        <p:txBody>
          <a:bodyPr wrap="square" rtlCol="0" anchor="ctr"/>
          <a:lstStyle/>
          <a:p>
            <a:pPr algn="ctr" indent="0" marL="0">
              <a:buNone/>
            </a:pPr>
            <a:r>
              <a:rPr lang="en-US" sz="1300" b="1" dirty="0">
                <a:solidFill>
                  <a:srgbClr val="2563EB"/>
                </a:solidFill>
                <a:latin typeface="Yu Gothic" pitchFamily="34" charset="0"/>
                <a:ea typeface="Yu Gothic" pitchFamily="34" charset="-122"/>
                <a:cs typeface="Yu Gothic" pitchFamily="34" charset="-120"/>
              </a:rPr>
              <a:t>共有</a:t>
            </a:r>
            <a:endParaRPr lang="en-US" sz="1300" dirty="0"/>
          </a:p>
        </p:txBody>
      </p:sp>
      <p:sp>
        <p:nvSpPr>
          <p:cNvPr id="34" name="Text 32"/>
          <p:cNvSpPr/>
          <p:nvPr/>
        </p:nvSpPr>
        <p:spPr>
          <a:xfrm>
            <a:off x="704088" y="4743811"/>
            <a:ext cx="2188388" cy="722376"/>
          </a:xfrm>
          <a:prstGeom prst="rect">
            <a:avLst/>
          </a:prstGeom>
          <a:noFill/>
          <a:ln/>
        </p:spPr>
        <p:txBody>
          <a:bodyPr wrap="square" rtlCol="0" anchor="t"/>
          <a:lstStyle/>
          <a:p>
            <a:pPr algn="ctr" indent="0" marL="0">
              <a:lnSpc>
                <a:spcPct val="125000"/>
              </a:lnSpc>
              <a:buNone/>
            </a:pPr>
            <a:r>
              <a:rPr lang="en-US" sz="1000" dirty="0">
                <a:solidFill>
                  <a:srgbClr val="111827"/>
                </a:solidFill>
                <a:latin typeface="Yu Gothic" pitchFamily="34" charset="0"/>
                <a:ea typeface="Yu Gothic" pitchFamily="34" charset="-122"/>
                <a:cs typeface="Yu Gothic" pitchFamily="34" charset="-120"/>
              </a:rPr>
              <a:t>完成版を配布</a:t>
            </a:r>
            <a:endParaRPr lang="en-US" sz="1000" dirty="0"/>
          </a:p>
        </p:txBody>
      </p:sp>
      <p:sp>
        <p:nvSpPr>
          <p:cNvPr id="35" name="Text 33"/>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図形系の例</a:t>
            </a:r>
            <a:endParaRPr lang="en-US" sz="900" dirty="0"/>
          </a:p>
        </p:txBody>
      </p:sp>
      <p:sp>
        <p:nvSpPr>
          <p:cNvPr id="36" name="Text 34"/>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kind: process-stages ─ 番号付き工程</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順序を明示したい工程列。番号バッジでステップ感を出す。</a:t>
            </a:r>
            <a:endParaRPr lang="en-US" sz="1300" dirty="0"/>
          </a:p>
        </p:txBody>
      </p:sp>
      <p:sp>
        <p:nvSpPr>
          <p:cNvPr id="4" name="Shape 2"/>
          <p:cNvSpPr/>
          <p:nvPr/>
        </p:nvSpPr>
        <p:spPr>
          <a:xfrm>
            <a:off x="1501102" y="2423160"/>
            <a:ext cx="731520" cy="731520"/>
          </a:xfrm>
          <a:prstGeom prst="ellipse">
            <a:avLst/>
          </a:prstGeom>
          <a:solidFill>
            <a:srgbClr val="2563EB"/>
          </a:solidFill>
          <a:ln/>
        </p:spPr>
      </p:sp>
      <p:sp>
        <p:nvSpPr>
          <p:cNvPr id="5" name="Text 3"/>
          <p:cNvSpPr/>
          <p:nvPr/>
        </p:nvSpPr>
        <p:spPr>
          <a:xfrm>
            <a:off x="1501102" y="2423160"/>
            <a:ext cx="731520" cy="731520"/>
          </a:xfrm>
          <a:prstGeom prst="rect">
            <a:avLst/>
          </a:prstGeom>
          <a:noFill/>
          <a:ln/>
        </p:spPr>
        <p:txBody>
          <a:bodyPr wrap="square"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1</a:t>
            </a:r>
            <a:endParaRPr lang="en-US" sz="2200" dirty="0"/>
          </a:p>
        </p:txBody>
      </p:sp>
      <p:sp>
        <p:nvSpPr>
          <p:cNvPr id="6" name="Text 4"/>
          <p:cNvSpPr/>
          <p:nvPr/>
        </p:nvSpPr>
        <p:spPr>
          <a:xfrm>
            <a:off x="594360" y="3291840"/>
            <a:ext cx="2545004" cy="457200"/>
          </a:xfrm>
          <a:prstGeom prst="rect">
            <a:avLst/>
          </a:prstGeom>
          <a:noFill/>
          <a:ln/>
        </p:spPr>
        <p:txBody>
          <a:bodyPr wrap="square" rtlCol="0" anchor="t"/>
          <a:lstStyle/>
          <a:p>
            <a:pPr algn="ctr" indent="0" marL="0">
              <a:buNone/>
            </a:pPr>
            <a:r>
              <a:rPr lang="en-US" sz="1400" b="1" dirty="0">
                <a:solidFill>
                  <a:srgbClr val="111827"/>
                </a:solidFill>
                <a:latin typeface="Yu Gothic" pitchFamily="34" charset="0"/>
                <a:ea typeface="Yu Gothic" pitchFamily="34" charset="-122"/>
                <a:cs typeface="Yu Gothic" pitchFamily="34" charset="-120"/>
              </a:rPr>
              <a:t>発散</a:t>
            </a:r>
            <a:endParaRPr lang="en-US" sz="1400" dirty="0"/>
          </a:p>
        </p:txBody>
      </p:sp>
      <p:sp>
        <p:nvSpPr>
          <p:cNvPr id="7" name="Text 5"/>
          <p:cNvSpPr/>
          <p:nvPr/>
        </p:nvSpPr>
        <p:spPr>
          <a:xfrm>
            <a:off x="594360" y="3794760"/>
            <a:ext cx="2545004" cy="2286000"/>
          </a:xfrm>
          <a:prstGeom prst="rect">
            <a:avLst/>
          </a:prstGeom>
          <a:noFill/>
          <a:ln/>
        </p:spPr>
        <p:txBody>
          <a:bodyPr wrap="square" rtlCol="0" anchor="t"/>
          <a:lstStyle/>
          <a:p>
            <a:pPr algn="ctr" indent="0" marL="0">
              <a:lnSpc>
                <a:spcPct val="130000"/>
              </a:lnSpc>
              <a:buNone/>
            </a:pPr>
            <a:r>
              <a:rPr lang="en-US" sz="1100" dirty="0">
                <a:solidFill>
                  <a:srgbClr val="4B5563"/>
                </a:solidFill>
                <a:latin typeface="Yu Gothic" pitchFamily="34" charset="0"/>
                <a:ea typeface="Yu Gothic" pitchFamily="34" charset="-122"/>
                <a:cs typeface="Yu Gothic" pitchFamily="34" charset="-120"/>
              </a:rPr>
              <a:t>選択肢を広く列挙し、評価軸も洗い出す</a:t>
            </a:r>
            <a:endParaRPr lang="en-US" sz="1100" dirty="0"/>
          </a:p>
        </p:txBody>
      </p:sp>
      <p:sp>
        <p:nvSpPr>
          <p:cNvPr id="8" name="Shape 6"/>
          <p:cNvSpPr/>
          <p:nvPr/>
        </p:nvSpPr>
        <p:spPr>
          <a:xfrm>
            <a:off x="4320426" y="2423160"/>
            <a:ext cx="731520" cy="731520"/>
          </a:xfrm>
          <a:prstGeom prst="ellipse">
            <a:avLst/>
          </a:prstGeom>
          <a:solidFill>
            <a:srgbClr val="2563EB"/>
          </a:solidFill>
          <a:ln/>
        </p:spPr>
      </p:sp>
      <p:sp>
        <p:nvSpPr>
          <p:cNvPr id="9" name="Text 7"/>
          <p:cNvSpPr/>
          <p:nvPr/>
        </p:nvSpPr>
        <p:spPr>
          <a:xfrm>
            <a:off x="4320426" y="2423160"/>
            <a:ext cx="731520" cy="731520"/>
          </a:xfrm>
          <a:prstGeom prst="rect">
            <a:avLst/>
          </a:prstGeom>
          <a:noFill/>
          <a:ln/>
        </p:spPr>
        <p:txBody>
          <a:bodyPr wrap="square"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2</a:t>
            </a:r>
            <a:endParaRPr lang="en-US" sz="2200" dirty="0"/>
          </a:p>
        </p:txBody>
      </p:sp>
      <p:sp>
        <p:nvSpPr>
          <p:cNvPr id="10" name="Text 8"/>
          <p:cNvSpPr/>
          <p:nvPr/>
        </p:nvSpPr>
        <p:spPr>
          <a:xfrm>
            <a:off x="3413684" y="3291840"/>
            <a:ext cx="2545004" cy="457200"/>
          </a:xfrm>
          <a:prstGeom prst="rect">
            <a:avLst/>
          </a:prstGeom>
          <a:noFill/>
          <a:ln/>
        </p:spPr>
        <p:txBody>
          <a:bodyPr wrap="square" rtlCol="0" anchor="t"/>
          <a:lstStyle/>
          <a:p>
            <a:pPr algn="ctr" indent="0" marL="0">
              <a:buNone/>
            </a:pPr>
            <a:r>
              <a:rPr lang="en-US" sz="1400" b="1" dirty="0">
                <a:solidFill>
                  <a:srgbClr val="111827"/>
                </a:solidFill>
                <a:latin typeface="Yu Gothic" pitchFamily="34" charset="0"/>
                <a:ea typeface="Yu Gothic" pitchFamily="34" charset="-122"/>
                <a:cs typeface="Yu Gothic" pitchFamily="34" charset="-120"/>
              </a:rPr>
              <a:t>収束</a:t>
            </a:r>
            <a:endParaRPr lang="en-US" sz="1400" dirty="0"/>
          </a:p>
        </p:txBody>
      </p:sp>
      <p:sp>
        <p:nvSpPr>
          <p:cNvPr id="11" name="Text 9"/>
          <p:cNvSpPr/>
          <p:nvPr/>
        </p:nvSpPr>
        <p:spPr>
          <a:xfrm>
            <a:off x="3413684" y="3794760"/>
            <a:ext cx="2545004" cy="2286000"/>
          </a:xfrm>
          <a:prstGeom prst="rect">
            <a:avLst/>
          </a:prstGeom>
          <a:noFill/>
          <a:ln/>
        </p:spPr>
        <p:txBody>
          <a:bodyPr wrap="square" rtlCol="0" anchor="t"/>
          <a:lstStyle/>
          <a:p>
            <a:pPr algn="ctr" indent="0" marL="0">
              <a:lnSpc>
                <a:spcPct val="130000"/>
              </a:lnSpc>
              <a:buNone/>
            </a:pPr>
            <a:r>
              <a:rPr lang="en-US" sz="1100" dirty="0">
                <a:solidFill>
                  <a:srgbClr val="4B5563"/>
                </a:solidFill>
                <a:latin typeface="Yu Gothic" pitchFamily="34" charset="0"/>
                <a:ea typeface="Yu Gothic" pitchFamily="34" charset="-122"/>
                <a:cs typeface="Yu Gothic" pitchFamily="34" charset="-120"/>
              </a:rPr>
              <a:t>評価軸で絞り、トレードオフを文書化する</a:t>
            </a:r>
            <a:endParaRPr lang="en-US" sz="1100" dirty="0"/>
          </a:p>
        </p:txBody>
      </p:sp>
      <p:sp>
        <p:nvSpPr>
          <p:cNvPr id="12" name="Shape 10"/>
          <p:cNvSpPr/>
          <p:nvPr/>
        </p:nvSpPr>
        <p:spPr>
          <a:xfrm>
            <a:off x="7139749" y="2423160"/>
            <a:ext cx="731520" cy="731520"/>
          </a:xfrm>
          <a:prstGeom prst="ellipse">
            <a:avLst/>
          </a:prstGeom>
          <a:solidFill>
            <a:srgbClr val="2563EB"/>
          </a:solidFill>
          <a:ln/>
        </p:spPr>
      </p:sp>
      <p:sp>
        <p:nvSpPr>
          <p:cNvPr id="13" name="Text 11"/>
          <p:cNvSpPr/>
          <p:nvPr/>
        </p:nvSpPr>
        <p:spPr>
          <a:xfrm>
            <a:off x="7139749" y="2423160"/>
            <a:ext cx="731520" cy="731520"/>
          </a:xfrm>
          <a:prstGeom prst="rect">
            <a:avLst/>
          </a:prstGeom>
          <a:noFill/>
          <a:ln/>
        </p:spPr>
        <p:txBody>
          <a:bodyPr wrap="square"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3</a:t>
            </a:r>
            <a:endParaRPr lang="en-US" sz="2200" dirty="0"/>
          </a:p>
        </p:txBody>
      </p:sp>
      <p:sp>
        <p:nvSpPr>
          <p:cNvPr id="14" name="Text 12"/>
          <p:cNvSpPr/>
          <p:nvPr/>
        </p:nvSpPr>
        <p:spPr>
          <a:xfrm>
            <a:off x="6233008" y="3291840"/>
            <a:ext cx="2545004" cy="457200"/>
          </a:xfrm>
          <a:prstGeom prst="rect">
            <a:avLst/>
          </a:prstGeom>
          <a:noFill/>
          <a:ln/>
        </p:spPr>
        <p:txBody>
          <a:bodyPr wrap="square" rtlCol="0" anchor="t"/>
          <a:lstStyle/>
          <a:p>
            <a:pPr algn="ctr" indent="0" marL="0">
              <a:buNone/>
            </a:pPr>
            <a:r>
              <a:rPr lang="en-US" sz="1400" b="1" dirty="0">
                <a:solidFill>
                  <a:srgbClr val="111827"/>
                </a:solidFill>
                <a:latin typeface="Yu Gothic" pitchFamily="34" charset="0"/>
                <a:ea typeface="Yu Gothic" pitchFamily="34" charset="-122"/>
                <a:cs typeface="Yu Gothic" pitchFamily="34" charset="-120"/>
              </a:rPr>
              <a:t>検証</a:t>
            </a:r>
            <a:endParaRPr lang="en-US" sz="1400" dirty="0"/>
          </a:p>
        </p:txBody>
      </p:sp>
      <p:sp>
        <p:nvSpPr>
          <p:cNvPr id="15" name="Text 13"/>
          <p:cNvSpPr/>
          <p:nvPr/>
        </p:nvSpPr>
        <p:spPr>
          <a:xfrm>
            <a:off x="6233008" y="3794760"/>
            <a:ext cx="2545004" cy="2286000"/>
          </a:xfrm>
          <a:prstGeom prst="rect">
            <a:avLst/>
          </a:prstGeom>
          <a:noFill/>
          <a:ln/>
        </p:spPr>
        <p:txBody>
          <a:bodyPr wrap="square" rtlCol="0" anchor="t"/>
          <a:lstStyle/>
          <a:p>
            <a:pPr algn="ctr" indent="0" marL="0">
              <a:lnSpc>
                <a:spcPct val="130000"/>
              </a:lnSpc>
              <a:buNone/>
            </a:pPr>
            <a:r>
              <a:rPr lang="en-US" sz="1100" dirty="0">
                <a:solidFill>
                  <a:srgbClr val="4B5563"/>
                </a:solidFill>
                <a:latin typeface="Yu Gothic" pitchFamily="34" charset="0"/>
                <a:ea typeface="Yu Gothic" pitchFamily="34" charset="-122"/>
                <a:cs typeface="Yu Gothic" pitchFamily="34" charset="-120"/>
              </a:rPr>
              <a:t>PoC または利害関係者レビューで仮説を検証</a:t>
            </a:r>
            <a:endParaRPr lang="en-US" sz="1100" dirty="0"/>
          </a:p>
        </p:txBody>
      </p:sp>
      <p:sp>
        <p:nvSpPr>
          <p:cNvPr id="16" name="Shape 14"/>
          <p:cNvSpPr/>
          <p:nvPr/>
        </p:nvSpPr>
        <p:spPr>
          <a:xfrm>
            <a:off x="9959073" y="2423160"/>
            <a:ext cx="731520" cy="731520"/>
          </a:xfrm>
          <a:prstGeom prst="ellipse">
            <a:avLst/>
          </a:prstGeom>
          <a:solidFill>
            <a:srgbClr val="2563EB"/>
          </a:solidFill>
          <a:ln/>
        </p:spPr>
      </p:sp>
      <p:sp>
        <p:nvSpPr>
          <p:cNvPr id="17" name="Text 15"/>
          <p:cNvSpPr/>
          <p:nvPr/>
        </p:nvSpPr>
        <p:spPr>
          <a:xfrm>
            <a:off x="9959073" y="2423160"/>
            <a:ext cx="731520" cy="731520"/>
          </a:xfrm>
          <a:prstGeom prst="rect">
            <a:avLst/>
          </a:prstGeom>
          <a:noFill/>
          <a:ln/>
        </p:spPr>
        <p:txBody>
          <a:bodyPr wrap="square"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4</a:t>
            </a:r>
            <a:endParaRPr lang="en-US" sz="2200" dirty="0"/>
          </a:p>
        </p:txBody>
      </p:sp>
      <p:sp>
        <p:nvSpPr>
          <p:cNvPr id="18" name="Text 16"/>
          <p:cNvSpPr/>
          <p:nvPr/>
        </p:nvSpPr>
        <p:spPr>
          <a:xfrm>
            <a:off x="9052331" y="3291840"/>
            <a:ext cx="2545004" cy="457200"/>
          </a:xfrm>
          <a:prstGeom prst="rect">
            <a:avLst/>
          </a:prstGeom>
          <a:noFill/>
          <a:ln/>
        </p:spPr>
        <p:txBody>
          <a:bodyPr wrap="square" rtlCol="0" anchor="t"/>
          <a:lstStyle/>
          <a:p>
            <a:pPr algn="ctr" indent="0" marL="0">
              <a:buNone/>
            </a:pPr>
            <a:r>
              <a:rPr lang="en-US" sz="1400" b="1" dirty="0">
                <a:solidFill>
                  <a:srgbClr val="111827"/>
                </a:solidFill>
                <a:latin typeface="Yu Gothic" pitchFamily="34" charset="0"/>
                <a:ea typeface="Yu Gothic" pitchFamily="34" charset="-122"/>
                <a:cs typeface="Yu Gothic" pitchFamily="34" charset="-120"/>
              </a:rPr>
              <a:t>決定</a:t>
            </a:r>
            <a:endParaRPr lang="en-US" sz="1400" dirty="0"/>
          </a:p>
        </p:txBody>
      </p:sp>
      <p:sp>
        <p:nvSpPr>
          <p:cNvPr id="19" name="Text 17"/>
          <p:cNvSpPr/>
          <p:nvPr/>
        </p:nvSpPr>
        <p:spPr>
          <a:xfrm>
            <a:off x="9052331" y="3794760"/>
            <a:ext cx="2545004" cy="2286000"/>
          </a:xfrm>
          <a:prstGeom prst="rect">
            <a:avLst/>
          </a:prstGeom>
          <a:noFill/>
          <a:ln/>
        </p:spPr>
        <p:txBody>
          <a:bodyPr wrap="square" rtlCol="0" anchor="t"/>
          <a:lstStyle/>
          <a:p>
            <a:pPr algn="ctr" indent="0" marL="0">
              <a:lnSpc>
                <a:spcPct val="130000"/>
              </a:lnSpc>
              <a:buNone/>
            </a:pPr>
            <a:r>
              <a:rPr lang="en-US" sz="1100" dirty="0">
                <a:solidFill>
                  <a:srgbClr val="4B5563"/>
                </a:solidFill>
                <a:latin typeface="Yu Gothic" pitchFamily="34" charset="0"/>
                <a:ea typeface="Yu Gothic" pitchFamily="34" charset="-122"/>
                <a:cs typeface="Yu Gothic" pitchFamily="34" charset="-120"/>
              </a:rPr>
              <a:t>判断理由と未決事項を ADR として記録</a:t>
            </a:r>
            <a:endParaRPr lang="en-US" sz="1100" dirty="0"/>
          </a:p>
        </p:txBody>
      </p:sp>
      <p:sp>
        <p:nvSpPr>
          <p:cNvPr id="20" name="Text 1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図形系の例</a:t>
            </a:r>
            <a:endParaRPr lang="en-US" sz="900" dirty="0"/>
          </a:p>
        </p:txBody>
      </p:sp>
      <p:sp>
        <p:nvSpPr>
          <p:cNvPr id="21" name="Text 1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94360" y="2103120"/>
            <a:ext cx="11002975" cy="411480"/>
          </a:xfrm>
          <a:prstGeom prst="rect">
            <a:avLst/>
          </a:prstGeom>
          <a:noFill/>
          <a:ln/>
        </p:spPr>
        <p:txBody>
          <a:bodyPr wrap="square" rtlCol="0" anchor="ctr"/>
          <a:lstStyle/>
          <a:p>
            <a:pPr algn="ctr" indent="0" marL="0">
              <a:buNone/>
            </a:pPr>
            <a:r>
              <a:rPr lang="en-US" sz="1800" b="1" dirty="0">
                <a:solidFill>
                  <a:srgbClr val="2563EB"/>
                </a:solidFill>
                <a:latin typeface="Yu Gothic" pitchFamily="34" charset="0"/>
                <a:ea typeface="Yu Gothic" pitchFamily="34" charset="-122"/>
                <a:cs typeface="Yu Gothic" pitchFamily="34" charset="-120"/>
              </a:rPr>
              <a:t>Section 5</a:t>
            </a:r>
            <a:endParaRPr lang="en-US" sz="1800" dirty="0"/>
          </a:p>
        </p:txBody>
      </p:sp>
      <p:sp>
        <p:nvSpPr>
          <p:cNvPr id="3" name="Text 1"/>
          <p:cNvSpPr/>
          <p:nvPr/>
        </p:nvSpPr>
        <p:spPr>
          <a:xfrm>
            <a:off x="594360" y="2834640"/>
            <a:ext cx="11002975" cy="1463040"/>
          </a:xfrm>
          <a:prstGeom prst="rect">
            <a:avLst/>
          </a:prstGeom>
          <a:noFill/>
          <a:ln/>
        </p:spPr>
        <p:txBody>
          <a:bodyPr wrap="square" rtlCol="0" anchor="ctr"/>
          <a:lstStyle/>
          <a:p>
            <a:pPr algn="ctr" indent="0" marL="0">
              <a:lnSpc>
                <a:spcPct val="120000"/>
              </a:lnSpc>
              <a:buNone/>
            </a:pPr>
            <a:r>
              <a:rPr lang="en-US" sz="3200" b="1" dirty="0">
                <a:solidFill>
                  <a:srgbClr val="111827"/>
                </a:solidFill>
                <a:latin typeface="Yu Gothic" pitchFamily="34" charset="0"/>
                <a:ea typeface="Yu Gothic" pitchFamily="34" charset="-122"/>
                <a:cs typeface="Yu Gothic" pitchFamily="34" charset="-120"/>
              </a:rPr>
              <a:t>境界出力サンプル（カード上限の目視確認）</a:t>
            </a:r>
            <a:endParaRPr lang="en-US" sz="3200" dirty="0"/>
          </a:p>
        </p:txBody>
      </p:sp>
      <p:sp>
        <p:nvSpPr>
          <p:cNvPr id="4" name="Text 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cards 2 枚 ─ 上限ぴったり（6 件 × 全角 26 字）</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1 カードに 6 件、各 bullet を 26 全角字ぴったりに揃えた最大ケース。1 行で収まるかとカード高がフッターに干渉しないかを確認する。</a:t>
            </a:r>
            <a:endParaRPr lang="en-US" sz="1300" dirty="0"/>
          </a:p>
        </p:txBody>
      </p:sp>
      <p:sp>
        <p:nvSpPr>
          <p:cNvPr id="4" name="Shape 2"/>
          <p:cNvSpPr/>
          <p:nvPr/>
        </p:nvSpPr>
        <p:spPr>
          <a:xfrm>
            <a:off x="594360" y="2120646"/>
            <a:ext cx="5364328" cy="3942588"/>
          </a:xfrm>
          <a:prstGeom prst="rect">
            <a:avLst/>
          </a:prstGeom>
          <a:solidFill>
            <a:srgbClr val="F9FAFB"/>
          </a:solidFill>
          <a:ln/>
        </p:spPr>
      </p:sp>
      <p:sp>
        <p:nvSpPr>
          <p:cNvPr id="5" name="Text 3"/>
          <p:cNvSpPr/>
          <p:nvPr/>
        </p:nvSpPr>
        <p:spPr>
          <a:xfrm>
            <a:off x="758952" y="2321814"/>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左 6 件 × 26 字</a:t>
            </a:r>
            <a:endParaRPr lang="en-US" sz="1300" dirty="0"/>
          </a:p>
        </p:txBody>
      </p:sp>
      <p:sp>
        <p:nvSpPr>
          <p:cNvPr id="6" name="Text 4"/>
          <p:cNvSpPr/>
          <p:nvPr/>
        </p:nvSpPr>
        <p:spPr>
          <a:xfrm>
            <a:off x="758952" y="2815590"/>
            <a:ext cx="5035144"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p:txBody>
      </p:sp>
      <p:sp>
        <p:nvSpPr>
          <p:cNvPr id="7" name="Shape 5"/>
          <p:cNvSpPr/>
          <p:nvPr/>
        </p:nvSpPr>
        <p:spPr>
          <a:xfrm>
            <a:off x="6233008" y="2120646"/>
            <a:ext cx="5364328" cy="3942588"/>
          </a:xfrm>
          <a:prstGeom prst="rect">
            <a:avLst/>
          </a:prstGeom>
          <a:solidFill>
            <a:srgbClr val="F9FAFB"/>
          </a:solidFill>
          <a:ln/>
        </p:spPr>
      </p:sp>
      <p:sp>
        <p:nvSpPr>
          <p:cNvPr id="8" name="Text 6"/>
          <p:cNvSpPr/>
          <p:nvPr/>
        </p:nvSpPr>
        <p:spPr>
          <a:xfrm>
            <a:off x="6397600" y="2321814"/>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右 6 件 × 26 字</a:t>
            </a:r>
            <a:endParaRPr lang="en-US" sz="1300" dirty="0"/>
          </a:p>
        </p:txBody>
      </p:sp>
      <p:sp>
        <p:nvSpPr>
          <p:cNvPr id="9" name="Text 7"/>
          <p:cNvSpPr/>
          <p:nvPr/>
        </p:nvSpPr>
        <p:spPr>
          <a:xfrm>
            <a:off x="6397600" y="2815590"/>
            <a:ext cx="5035144"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境界確認の上限文字数までを表示するための長い箇条書き</a:t>
            </a:r>
            <a:endParaRPr lang="en-US" sz="1300" dirty="0"/>
          </a:p>
        </p:txBody>
      </p:sp>
      <p:sp>
        <p:nvSpPr>
          <p:cNvPr id="10" name="Text 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11" name="Text 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cards 2 枚 ─ 上限超過（7 件）</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上限 6 を超えた 7 件。固定 Y を維持できず中央寄せ（slack/2）へフォールバックし、フッターに干渉する挙動を目視確認する。</a:t>
            </a:r>
            <a:endParaRPr lang="en-US" sz="1300" dirty="0"/>
          </a:p>
        </p:txBody>
      </p:sp>
      <p:sp>
        <p:nvSpPr>
          <p:cNvPr id="4" name="Shape 2"/>
          <p:cNvSpPr/>
          <p:nvPr/>
        </p:nvSpPr>
        <p:spPr>
          <a:xfrm>
            <a:off x="594360" y="1874520"/>
            <a:ext cx="5364328" cy="4470654"/>
          </a:xfrm>
          <a:prstGeom prst="rect">
            <a:avLst/>
          </a:prstGeom>
          <a:solidFill>
            <a:srgbClr val="F9FAFB"/>
          </a:solidFill>
          <a:ln/>
        </p:spPr>
      </p:sp>
      <p:sp>
        <p:nvSpPr>
          <p:cNvPr id="5" name="Text 3"/>
          <p:cNvSpPr/>
          <p:nvPr/>
        </p:nvSpPr>
        <p:spPr>
          <a:xfrm>
            <a:off x="758952" y="2075688"/>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左 7 件</a:t>
            </a:r>
            <a:endParaRPr lang="en-US" sz="1300" dirty="0"/>
          </a:p>
        </p:txBody>
      </p:sp>
      <p:sp>
        <p:nvSpPr>
          <p:cNvPr id="6" name="Text 4"/>
          <p:cNvSpPr/>
          <p:nvPr/>
        </p:nvSpPr>
        <p:spPr>
          <a:xfrm>
            <a:off x="758952" y="2569464"/>
            <a:ext cx="5035144" cy="3391662"/>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1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2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3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4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5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6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7 件目: 上限超過の確認</a:t>
            </a:r>
            <a:endParaRPr lang="en-US" sz="1300" dirty="0"/>
          </a:p>
        </p:txBody>
      </p:sp>
      <p:sp>
        <p:nvSpPr>
          <p:cNvPr id="7" name="Shape 5"/>
          <p:cNvSpPr/>
          <p:nvPr/>
        </p:nvSpPr>
        <p:spPr>
          <a:xfrm>
            <a:off x="6233008" y="1874520"/>
            <a:ext cx="5364328" cy="4470654"/>
          </a:xfrm>
          <a:prstGeom prst="rect">
            <a:avLst/>
          </a:prstGeom>
          <a:solidFill>
            <a:srgbClr val="F9FAFB"/>
          </a:solidFill>
          <a:ln/>
        </p:spPr>
      </p:sp>
      <p:sp>
        <p:nvSpPr>
          <p:cNvPr id="8" name="Text 6"/>
          <p:cNvSpPr/>
          <p:nvPr/>
        </p:nvSpPr>
        <p:spPr>
          <a:xfrm>
            <a:off x="6397600" y="2075688"/>
            <a:ext cx="5035144" cy="256032"/>
          </a:xfrm>
          <a:prstGeom prst="rect">
            <a:avLst/>
          </a:prstGeom>
          <a:noFill/>
          <a:ln/>
        </p:spPr>
        <p:txBody>
          <a:bodyPr wrap="square" rtlCol="0" anchor="t"/>
          <a:lstStyle/>
          <a:p>
            <a:pPr indent="0" marL="0">
              <a:buNone/>
            </a:pPr>
            <a:r>
              <a:rPr lang="en-US" sz="1300" b="1" dirty="0">
                <a:solidFill>
                  <a:srgbClr val="2563EB"/>
                </a:solidFill>
                <a:latin typeface="Yu Gothic" pitchFamily="34" charset="0"/>
                <a:ea typeface="Yu Gothic" pitchFamily="34" charset="-122"/>
                <a:cs typeface="Yu Gothic" pitchFamily="34" charset="-120"/>
              </a:rPr>
              <a:t>右 7 件</a:t>
            </a:r>
            <a:endParaRPr lang="en-US" sz="1300" dirty="0"/>
          </a:p>
        </p:txBody>
      </p:sp>
      <p:sp>
        <p:nvSpPr>
          <p:cNvPr id="9" name="Text 7"/>
          <p:cNvSpPr/>
          <p:nvPr/>
        </p:nvSpPr>
        <p:spPr>
          <a:xfrm>
            <a:off x="6397600" y="2569464"/>
            <a:ext cx="5035144" cy="3391662"/>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1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2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3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4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5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6 件目: 上限超過の確認</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7 件目: 上限超過の確認</a:t>
            </a:r>
            <a:endParaRPr lang="en-US" sz="1300" dirty="0"/>
          </a:p>
        </p:txBody>
      </p:sp>
      <p:sp>
        <p:nvSpPr>
          <p:cNvPr id="10" name="Text 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11" name="Text 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cards 3 枚 ─ 上限ぴったり（各カード 6 件 × 全角 15 字）</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1 カードに 6 件、各 bullet を 15 全角字ぴったりに揃えた最大ケース。3 枚配置のカード幅で折り返さずに 1 行で収まるかを確認する。</a:t>
            </a:r>
            <a:endParaRPr lang="en-US" sz="1300" dirty="0"/>
          </a:p>
        </p:txBody>
      </p:sp>
      <p:sp>
        <p:nvSpPr>
          <p:cNvPr id="4" name="Shape 2"/>
          <p:cNvSpPr/>
          <p:nvPr/>
        </p:nvSpPr>
        <p:spPr>
          <a:xfrm>
            <a:off x="594360" y="2120646"/>
            <a:ext cx="3582314" cy="3942588"/>
          </a:xfrm>
          <a:prstGeom prst="rect">
            <a:avLst/>
          </a:prstGeom>
          <a:solidFill>
            <a:srgbClr val="F9FAFB"/>
          </a:solidFill>
          <a:ln/>
        </p:spPr>
      </p:sp>
      <p:sp>
        <p:nvSpPr>
          <p:cNvPr id="5" name="Text 3"/>
          <p:cNvSpPr/>
          <p:nvPr/>
        </p:nvSpPr>
        <p:spPr>
          <a:xfrm>
            <a:off x="758952" y="2321814"/>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1</a:t>
            </a:r>
            <a:endParaRPr lang="en-US" sz="1300" dirty="0"/>
          </a:p>
        </p:txBody>
      </p:sp>
      <p:sp>
        <p:nvSpPr>
          <p:cNvPr id="6" name="Text 4"/>
          <p:cNvSpPr/>
          <p:nvPr/>
        </p:nvSpPr>
        <p:spPr>
          <a:xfrm>
            <a:off x="758952" y="2815590"/>
            <a:ext cx="3253130"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p:txBody>
      </p:sp>
      <p:sp>
        <p:nvSpPr>
          <p:cNvPr id="7" name="Shape 5"/>
          <p:cNvSpPr/>
          <p:nvPr/>
        </p:nvSpPr>
        <p:spPr>
          <a:xfrm>
            <a:off x="4304690" y="2120646"/>
            <a:ext cx="3582314" cy="3942588"/>
          </a:xfrm>
          <a:prstGeom prst="rect">
            <a:avLst/>
          </a:prstGeom>
          <a:solidFill>
            <a:srgbClr val="F9FAFB"/>
          </a:solidFill>
          <a:ln/>
        </p:spPr>
      </p:sp>
      <p:sp>
        <p:nvSpPr>
          <p:cNvPr id="8" name="Text 6"/>
          <p:cNvSpPr/>
          <p:nvPr/>
        </p:nvSpPr>
        <p:spPr>
          <a:xfrm>
            <a:off x="4469282" y="2321814"/>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2</a:t>
            </a:r>
            <a:endParaRPr lang="en-US" sz="1300" dirty="0"/>
          </a:p>
        </p:txBody>
      </p:sp>
      <p:sp>
        <p:nvSpPr>
          <p:cNvPr id="9" name="Text 7"/>
          <p:cNvSpPr/>
          <p:nvPr/>
        </p:nvSpPr>
        <p:spPr>
          <a:xfrm>
            <a:off x="4469282" y="2815590"/>
            <a:ext cx="3253130"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p:txBody>
      </p:sp>
      <p:sp>
        <p:nvSpPr>
          <p:cNvPr id="10" name="Shape 8"/>
          <p:cNvSpPr/>
          <p:nvPr/>
        </p:nvSpPr>
        <p:spPr>
          <a:xfrm>
            <a:off x="8015021" y="2120646"/>
            <a:ext cx="3582314" cy="3942588"/>
          </a:xfrm>
          <a:prstGeom prst="rect">
            <a:avLst/>
          </a:prstGeom>
          <a:solidFill>
            <a:srgbClr val="F9FAFB"/>
          </a:solidFill>
          <a:ln/>
        </p:spPr>
      </p:sp>
      <p:sp>
        <p:nvSpPr>
          <p:cNvPr id="11" name="Text 9"/>
          <p:cNvSpPr/>
          <p:nvPr/>
        </p:nvSpPr>
        <p:spPr>
          <a:xfrm>
            <a:off x="8179613" y="2321814"/>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3</a:t>
            </a:r>
            <a:endParaRPr lang="en-US" sz="1300" dirty="0"/>
          </a:p>
        </p:txBody>
      </p:sp>
      <p:sp>
        <p:nvSpPr>
          <p:cNvPr id="12" name="Text 10"/>
          <p:cNvSpPr/>
          <p:nvPr/>
        </p:nvSpPr>
        <p:spPr>
          <a:xfrm>
            <a:off x="8179613" y="2815590"/>
            <a:ext cx="3253130" cy="2863596"/>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境界確認の上限文字数を含む行例</a:t>
            </a:r>
            <a:endParaRPr lang="en-US" sz="1300" dirty="0"/>
          </a:p>
        </p:txBody>
      </p:sp>
      <p:sp>
        <p:nvSpPr>
          <p:cNvPr id="13" name="Text 11"/>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14" name="Text 1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cards 3 枚 ─ 上限超過（各カード 7 件）</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上限 6 を超えた 7 件。固定 Y を維持できず中央寄せへフォールバックし、フッターに干渉する挙動を目視確認する。</a:t>
            </a:r>
            <a:endParaRPr lang="en-US" sz="1300" dirty="0"/>
          </a:p>
        </p:txBody>
      </p:sp>
      <p:sp>
        <p:nvSpPr>
          <p:cNvPr id="4" name="Shape 2"/>
          <p:cNvSpPr/>
          <p:nvPr/>
        </p:nvSpPr>
        <p:spPr>
          <a:xfrm>
            <a:off x="594360" y="1874520"/>
            <a:ext cx="3582314" cy="4470654"/>
          </a:xfrm>
          <a:prstGeom prst="rect">
            <a:avLst/>
          </a:prstGeom>
          <a:solidFill>
            <a:srgbClr val="F9FAFB"/>
          </a:solidFill>
          <a:ln/>
        </p:spPr>
      </p:sp>
      <p:sp>
        <p:nvSpPr>
          <p:cNvPr id="5" name="Text 3"/>
          <p:cNvSpPr/>
          <p:nvPr/>
        </p:nvSpPr>
        <p:spPr>
          <a:xfrm>
            <a:off x="758952" y="2075688"/>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1</a:t>
            </a:r>
            <a:endParaRPr lang="en-US" sz="1300" dirty="0"/>
          </a:p>
        </p:txBody>
      </p:sp>
      <p:sp>
        <p:nvSpPr>
          <p:cNvPr id="6" name="Text 4"/>
          <p:cNvSpPr/>
          <p:nvPr/>
        </p:nvSpPr>
        <p:spPr>
          <a:xfrm>
            <a:off x="758952" y="2569464"/>
            <a:ext cx="3253130" cy="3391662"/>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1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2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3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4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5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6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7 件目</a:t>
            </a:r>
            <a:endParaRPr lang="en-US" sz="1300" dirty="0"/>
          </a:p>
        </p:txBody>
      </p:sp>
      <p:sp>
        <p:nvSpPr>
          <p:cNvPr id="7" name="Shape 5"/>
          <p:cNvSpPr/>
          <p:nvPr/>
        </p:nvSpPr>
        <p:spPr>
          <a:xfrm>
            <a:off x="4304690" y="1874520"/>
            <a:ext cx="3582314" cy="4470654"/>
          </a:xfrm>
          <a:prstGeom prst="rect">
            <a:avLst/>
          </a:prstGeom>
          <a:solidFill>
            <a:srgbClr val="F9FAFB"/>
          </a:solidFill>
          <a:ln/>
        </p:spPr>
      </p:sp>
      <p:sp>
        <p:nvSpPr>
          <p:cNvPr id="8" name="Text 6"/>
          <p:cNvSpPr/>
          <p:nvPr/>
        </p:nvSpPr>
        <p:spPr>
          <a:xfrm>
            <a:off x="4469282" y="2075688"/>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2</a:t>
            </a:r>
            <a:endParaRPr lang="en-US" sz="1300" dirty="0"/>
          </a:p>
        </p:txBody>
      </p:sp>
      <p:sp>
        <p:nvSpPr>
          <p:cNvPr id="9" name="Text 7"/>
          <p:cNvSpPr/>
          <p:nvPr/>
        </p:nvSpPr>
        <p:spPr>
          <a:xfrm>
            <a:off x="4469282" y="2569464"/>
            <a:ext cx="3253130" cy="3391662"/>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1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2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3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4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5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6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7 件目</a:t>
            </a:r>
            <a:endParaRPr lang="en-US" sz="1300" dirty="0"/>
          </a:p>
        </p:txBody>
      </p:sp>
      <p:sp>
        <p:nvSpPr>
          <p:cNvPr id="10" name="Shape 8"/>
          <p:cNvSpPr/>
          <p:nvPr/>
        </p:nvSpPr>
        <p:spPr>
          <a:xfrm>
            <a:off x="8015021" y="1874520"/>
            <a:ext cx="3582314" cy="4470654"/>
          </a:xfrm>
          <a:prstGeom prst="rect">
            <a:avLst/>
          </a:prstGeom>
          <a:solidFill>
            <a:srgbClr val="F9FAFB"/>
          </a:solidFill>
          <a:ln/>
        </p:spPr>
      </p:sp>
      <p:sp>
        <p:nvSpPr>
          <p:cNvPr id="11" name="Text 9"/>
          <p:cNvSpPr/>
          <p:nvPr/>
        </p:nvSpPr>
        <p:spPr>
          <a:xfrm>
            <a:off x="8179613" y="2075688"/>
            <a:ext cx="3253130" cy="256032"/>
          </a:xfrm>
          <a:prstGeom prst="rect">
            <a:avLst/>
          </a:prstGeom>
          <a:noFill/>
          <a:ln/>
        </p:spPr>
        <p:txBody>
          <a:bodyPr wrap="square" rtlCol="0" anchor="t"/>
          <a:lstStyle/>
          <a:p>
            <a:pPr indent="0" marL="0">
              <a:buNone/>
            </a:pPr>
            <a:r>
              <a:rPr lang="en-US" sz="1300" b="1" dirty="0">
                <a:solidFill>
                  <a:srgbClr val="111827"/>
                </a:solidFill>
                <a:latin typeface="Yu Gothic" pitchFamily="34" charset="0"/>
                <a:ea typeface="Yu Gothic" pitchFamily="34" charset="-122"/>
                <a:cs typeface="Yu Gothic" pitchFamily="34" charset="-120"/>
              </a:rPr>
              <a:t>カード 3</a:t>
            </a:r>
            <a:endParaRPr lang="en-US" sz="1300" dirty="0"/>
          </a:p>
        </p:txBody>
      </p:sp>
      <p:sp>
        <p:nvSpPr>
          <p:cNvPr id="12" name="Text 10"/>
          <p:cNvSpPr/>
          <p:nvPr/>
        </p:nvSpPr>
        <p:spPr>
          <a:xfrm>
            <a:off x="8179613" y="2569464"/>
            <a:ext cx="3253130" cy="3391662"/>
          </a:xfrm>
          <a:prstGeom prst="rect">
            <a:avLst/>
          </a:prstGeom>
          <a:noFill/>
          <a:ln/>
        </p:spPr>
        <p:txBody>
          <a:bodyPr wrap="square" rtlCol="0" anchor="t"/>
          <a:lstStyle/>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1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2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3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4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5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6 件目</a:t>
            </a:r>
            <a:endParaRPr lang="en-US" sz="1300" dirty="0"/>
          </a:p>
          <a:p>
            <a:pPr marL="342900" indent="-342900">
              <a:lnSpc>
                <a:spcPct val="120000"/>
              </a:lnSpc>
              <a:spcAft>
                <a:spcPts val="2400"/>
              </a:spcAft>
              <a:buSzPct val="100000"/>
              <a:buChar char="◆"/>
            </a:pPr>
            <a:r>
              <a:rPr lang="en-US" sz="1300" dirty="0">
                <a:solidFill>
                  <a:srgbClr val="111827"/>
                </a:solidFill>
                <a:latin typeface="Yu Gothic" pitchFamily="34" charset="0"/>
                <a:ea typeface="Yu Gothic" pitchFamily="34" charset="-122"/>
                <a:cs typeface="Yu Gothic" pitchFamily="34" charset="-120"/>
              </a:rPr>
              <a:t>7 件目</a:t>
            </a:r>
            <a:endParaRPr lang="en-US" sz="1300" dirty="0"/>
          </a:p>
        </p:txBody>
      </p:sp>
      <p:sp>
        <p:nvSpPr>
          <p:cNvPr id="13" name="Text 11"/>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14" name="Text 12"/>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panel-cards 3 枚 ─ 上限超過（8 件 / 全角 18 字）</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件数 8 件（上限 7 を 1 件超過）、一部 item が全角 18 字（上限 17 を 1 字超過）。フッターとの干渉と自動折り返しの挙動を目視確認する。</a:t>
            </a:r>
            <a:endParaRPr lang="en-US" sz="1300" dirty="0"/>
          </a:p>
        </p:txBody>
      </p:sp>
      <p:sp>
        <p:nvSpPr>
          <p:cNvPr id="4" name="Shape 2"/>
          <p:cNvSpPr/>
          <p:nvPr/>
        </p:nvSpPr>
        <p:spPr>
          <a:xfrm>
            <a:off x="594360" y="1874520"/>
            <a:ext cx="3496970" cy="502920"/>
          </a:xfrm>
          <a:prstGeom prst="rect">
            <a:avLst/>
          </a:prstGeom>
          <a:solidFill>
            <a:srgbClr val="2563EB"/>
          </a:solidFill>
          <a:ln/>
        </p:spPr>
      </p:sp>
      <p:sp>
        <p:nvSpPr>
          <p:cNvPr id="5" name="Text 3"/>
          <p:cNvSpPr/>
          <p:nvPr/>
        </p:nvSpPr>
        <p:spPr>
          <a:xfrm>
            <a:off x="594360" y="187452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超過 A</a:t>
            </a:r>
            <a:endParaRPr lang="en-US" sz="1300" dirty="0"/>
          </a:p>
        </p:txBody>
      </p:sp>
      <p:sp>
        <p:nvSpPr>
          <p:cNvPr id="6" name="Shape 4"/>
          <p:cNvSpPr/>
          <p:nvPr/>
        </p:nvSpPr>
        <p:spPr>
          <a:xfrm>
            <a:off x="594360" y="2377440"/>
            <a:ext cx="3496970" cy="4023360"/>
          </a:xfrm>
          <a:prstGeom prst="rect">
            <a:avLst/>
          </a:prstGeom>
          <a:solidFill>
            <a:srgbClr val="FFFFFF"/>
          </a:solidFill>
          <a:ln w="6350">
            <a:solidFill>
              <a:srgbClr val="D1D5DB"/>
            </a:solidFill>
            <a:prstDash val="solid"/>
          </a:ln>
        </p:spPr>
      </p:sp>
      <p:sp>
        <p:nvSpPr>
          <p:cNvPr id="7" name="Text 5"/>
          <p:cNvSpPr/>
          <p:nvPr/>
        </p:nvSpPr>
        <p:spPr>
          <a:xfrm>
            <a:off x="777240" y="23774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件目</a:t>
            </a:r>
            <a:endParaRPr lang="en-US" sz="1200" dirty="0"/>
          </a:p>
        </p:txBody>
      </p:sp>
      <p:sp>
        <p:nvSpPr>
          <p:cNvPr id="8" name="Text 6"/>
          <p:cNvSpPr/>
          <p:nvPr/>
        </p:nvSpPr>
        <p:spPr>
          <a:xfrm>
            <a:off x="777240" y="28803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2 件目</a:t>
            </a:r>
            <a:endParaRPr lang="en-US" sz="1200" dirty="0"/>
          </a:p>
        </p:txBody>
      </p:sp>
      <p:sp>
        <p:nvSpPr>
          <p:cNvPr id="9" name="Text 7"/>
          <p:cNvSpPr/>
          <p:nvPr/>
        </p:nvSpPr>
        <p:spPr>
          <a:xfrm>
            <a:off x="777240" y="33832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3 件目</a:t>
            </a:r>
            <a:endParaRPr lang="en-US" sz="1200" dirty="0"/>
          </a:p>
        </p:txBody>
      </p:sp>
      <p:sp>
        <p:nvSpPr>
          <p:cNvPr id="10" name="Text 8"/>
          <p:cNvSpPr/>
          <p:nvPr/>
        </p:nvSpPr>
        <p:spPr>
          <a:xfrm>
            <a:off x="777240" y="38862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4 件目</a:t>
            </a:r>
            <a:endParaRPr lang="en-US" sz="1200" dirty="0"/>
          </a:p>
        </p:txBody>
      </p:sp>
      <p:sp>
        <p:nvSpPr>
          <p:cNvPr id="11" name="Text 9"/>
          <p:cNvSpPr/>
          <p:nvPr/>
        </p:nvSpPr>
        <p:spPr>
          <a:xfrm>
            <a:off x="777240" y="43891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5 件目</a:t>
            </a:r>
            <a:endParaRPr lang="en-US" sz="1200" dirty="0"/>
          </a:p>
        </p:txBody>
      </p:sp>
      <p:sp>
        <p:nvSpPr>
          <p:cNvPr id="12" name="Text 10"/>
          <p:cNvSpPr/>
          <p:nvPr/>
        </p:nvSpPr>
        <p:spPr>
          <a:xfrm>
            <a:off x="777240" y="48920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6 件目</a:t>
            </a:r>
            <a:endParaRPr lang="en-US" sz="1200" dirty="0"/>
          </a:p>
        </p:txBody>
      </p:sp>
      <p:sp>
        <p:nvSpPr>
          <p:cNvPr id="13" name="Text 11"/>
          <p:cNvSpPr/>
          <p:nvPr/>
        </p:nvSpPr>
        <p:spPr>
          <a:xfrm>
            <a:off x="777240" y="53949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7 件目</a:t>
            </a:r>
            <a:endParaRPr lang="en-US" sz="1200" dirty="0"/>
          </a:p>
        </p:txBody>
      </p:sp>
      <p:sp>
        <p:nvSpPr>
          <p:cNvPr id="14" name="Text 12"/>
          <p:cNvSpPr/>
          <p:nvPr/>
        </p:nvSpPr>
        <p:spPr>
          <a:xfrm>
            <a:off x="777240" y="58978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8 件目</a:t>
            </a:r>
            <a:endParaRPr lang="en-US" sz="1200" dirty="0"/>
          </a:p>
        </p:txBody>
      </p:sp>
      <p:sp>
        <p:nvSpPr>
          <p:cNvPr id="15" name="Shape 13"/>
          <p:cNvSpPr/>
          <p:nvPr/>
        </p:nvSpPr>
        <p:spPr>
          <a:xfrm>
            <a:off x="777240" y="2876702"/>
            <a:ext cx="3131210" cy="7315"/>
          </a:xfrm>
          <a:prstGeom prst="rect">
            <a:avLst/>
          </a:prstGeom>
          <a:solidFill>
            <a:srgbClr val="D1D5DB"/>
          </a:solidFill>
          <a:ln/>
        </p:spPr>
      </p:sp>
      <p:sp>
        <p:nvSpPr>
          <p:cNvPr id="16" name="Shape 14"/>
          <p:cNvSpPr/>
          <p:nvPr/>
        </p:nvSpPr>
        <p:spPr>
          <a:xfrm>
            <a:off x="777240" y="3379622"/>
            <a:ext cx="3131210" cy="7315"/>
          </a:xfrm>
          <a:prstGeom prst="rect">
            <a:avLst/>
          </a:prstGeom>
          <a:solidFill>
            <a:srgbClr val="D1D5DB"/>
          </a:solidFill>
          <a:ln/>
        </p:spPr>
      </p:sp>
      <p:sp>
        <p:nvSpPr>
          <p:cNvPr id="17" name="Shape 15"/>
          <p:cNvSpPr/>
          <p:nvPr/>
        </p:nvSpPr>
        <p:spPr>
          <a:xfrm>
            <a:off x="777240" y="3882542"/>
            <a:ext cx="3131210" cy="7315"/>
          </a:xfrm>
          <a:prstGeom prst="rect">
            <a:avLst/>
          </a:prstGeom>
          <a:solidFill>
            <a:srgbClr val="D1D5DB"/>
          </a:solidFill>
          <a:ln/>
        </p:spPr>
      </p:sp>
      <p:sp>
        <p:nvSpPr>
          <p:cNvPr id="18" name="Shape 16"/>
          <p:cNvSpPr/>
          <p:nvPr/>
        </p:nvSpPr>
        <p:spPr>
          <a:xfrm>
            <a:off x="777240" y="4385462"/>
            <a:ext cx="3131210" cy="7315"/>
          </a:xfrm>
          <a:prstGeom prst="rect">
            <a:avLst/>
          </a:prstGeom>
          <a:solidFill>
            <a:srgbClr val="D1D5DB"/>
          </a:solidFill>
          <a:ln/>
        </p:spPr>
      </p:sp>
      <p:sp>
        <p:nvSpPr>
          <p:cNvPr id="19" name="Shape 17"/>
          <p:cNvSpPr/>
          <p:nvPr/>
        </p:nvSpPr>
        <p:spPr>
          <a:xfrm>
            <a:off x="777240" y="4888382"/>
            <a:ext cx="3131210" cy="7315"/>
          </a:xfrm>
          <a:prstGeom prst="rect">
            <a:avLst/>
          </a:prstGeom>
          <a:solidFill>
            <a:srgbClr val="D1D5DB"/>
          </a:solidFill>
          <a:ln/>
        </p:spPr>
      </p:sp>
      <p:sp>
        <p:nvSpPr>
          <p:cNvPr id="20" name="Shape 18"/>
          <p:cNvSpPr/>
          <p:nvPr/>
        </p:nvSpPr>
        <p:spPr>
          <a:xfrm>
            <a:off x="777240" y="5391302"/>
            <a:ext cx="3131210" cy="7315"/>
          </a:xfrm>
          <a:prstGeom prst="rect">
            <a:avLst/>
          </a:prstGeom>
          <a:solidFill>
            <a:srgbClr val="D1D5DB"/>
          </a:solidFill>
          <a:ln/>
        </p:spPr>
      </p:sp>
      <p:sp>
        <p:nvSpPr>
          <p:cNvPr id="21" name="Shape 19"/>
          <p:cNvSpPr/>
          <p:nvPr/>
        </p:nvSpPr>
        <p:spPr>
          <a:xfrm>
            <a:off x="777240" y="5894222"/>
            <a:ext cx="3131210" cy="7315"/>
          </a:xfrm>
          <a:prstGeom prst="rect">
            <a:avLst/>
          </a:prstGeom>
          <a:solidFill>
            <a:srgbClr val="D1D5DB"/>
          </a:solidFill>
          <a:ln/>
        </p:spPr>
      </p:sp>
      <p:sp>
        <p:nvSpPr>
          <p:cNvPr id="22" name="Shape 20"/>
          <p:cNvSpPr/>
          <p:nvPr/>
        </p:nvSpPr>
        <p:spPr>
          <a:xfrm>
            <a:off x="4347362" y="1874520"/>
            <a:ext cx="3496970" cy="502920"/>
          </a:xfrm>
          <a:prstGeom prst="rect">
            <a:avLst/>
          </a:prstGeom>
          <a:solidFill>
            <a:srgbClr val="2563EB"/>
          </a:solidFill>
          <a:ln/>
        </p:spPr>
      </p:sp>
      <p:sp>
        <p:nvSpPr>
          <p:cNvPr id="23" name="Text 21"/>
          <p:cNvSpPr/>
          <p:nvPr/>
        </p:nvSpPr>
        <p:spPr>
          <a:xfrm>
            <a:off x="4347362" y="187452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超過 B</a:t>
            </a:r>
            <a:endParaRPr lang="en-US" sz="1300" dirty="0"/>
          </a:p>
        </p:txBody>
      </p:sp>
      <p:sp>
        <p:nvSpPr>
          <p:cNvPr id="24" name="Shape 22"/>
          <p:cNvSpPr/>
          <p:nvPr/>
        </p:nvSpPr>
        <p:spPr>
          <a:xfrm>
            <a:off x="4347362" y="2377440"/>
            <a:ext cx="3496970" cy="4023360"/>
          </a:xfrm>
          <a:prstGeom prst="rect">
            <a:avLst/>
          </a:prstGeom>
          <a:solidFill>
            <a:srgbClr val="FFFFFF"/>
          </a:solidFill>
          <a:ln w="6350">
            <a:solidFill>
              <a:srgbClr val="D1D5DB"/>
            </a:solidFill>
            <a:prstDash val="solid"/>
          </a:ln>
        </p:spPr>
      </p:sp>
      <p:sp>
        <p:nvSpPr>
          <p:cNvPr id="25" name="Text 23"/>
          <p:cNvSpPr/>
          <p:nvPr/>
        </p:nvSpPr>
        <p:spPr>
          <a:xfrm>
            <a:off x="4530242" y="23774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件目</a:t>
            </a:r>
            <a:endParaRPr lang="en-US" sz="1200" dirty="0"/>
          </a:p>
        </p:txBody>
      </p:sp>
      <p:sp>
        <p:nvSpPr>
          <p:cNvPr id="26" name="Text 24"/>
          <p:cNvSpPr/>
          <p:nvPr/>
        </p:nvSpPr>
        <p:spPr>
          <a:xfrm>
            <a:off x="4530242" y="28803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2 件目</a:t>
            </a:r>
            <a:endParaRPr lang="en-US" sz="1200" dirty="0"/>
          </a:p>
        </p:txBody>
      </p:sp>
      <p:sp>
        <p:nvSpPr>
          <p:cNvPr id="27" name="Text 25"/>
          <p:cNvSpPr/>
          <p:nvPr/>
        </p:nvSpPr>
        <p:spPr>
          <a:xfrm>
            <a:off x="4530242" y="33832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3 件目</a:t>
            </a:r>
            <a:endParaRPr lang="en-US" sz="1200" dirty="0"/>
          </a:p>
        </p:txBody>
      </p:sp>
      <p:sp>
        <p:nvSpPr>
          <p:cNvPr id="28" name="Text 26"/>
          <p:cNvSpPr/>
          <p:nvPr/>
        </p:nvSpPr>
        <p:spPr>
          <a:xfrm>
            <a:off x="4530242" y="38862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4 件目</a:t>
            </a:r>
            <a:endParaRPr lang="en-US" sz="1200" dirty="0"/>
          </a:p>
        </p:txBody>
      </p:sp>
      <p:sp>
        <p:nvSpPr>
          <p:cNvPr id="29" name="Text 27"/>
          <p:cNvSpPr/>
          <p:nvPr/>
        </p:nvSpPr>
        <p:spPr>
          <a:xfrm>
            <a:off x="4530242" y="43891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上限を一字超える十八字相当の全角文例</a:t>
            </a:r>
            <a:endParaRPr lang="en-US" sz="1200" dirty="0"/>
          </a:p>
        </p:txBody>
      </p:sp>
      <p:sp>
        <p:nvSpPr>
          <p:cNvPr id="30" name="Text 28"/>
          <p:cNvSpPr/>
          <p:nvPr/>
        </p:nvSpPr>
        <p:spPr>
          <a:xfrm>
            <a:off x="4530242" y="48920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6 件目</a:t>
            </a:r>
            <a:endParaRPr lang="en-US" sz="1200" dirty="0"/>
          </a:p>
        </p:txBody>
      </p:sp>
      <p:sp>
        <p:nvSpPr>
          <p:cNvPr id="31" name="Text 29"/>
          <p:cNvSpPr/>
          <p:nvPr/>
        </p:nvSpPr>
        <p:spPr>
          <a:xfrm>
            <a:off x="4530242" y="53949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7 件目</a:t>
            </a:r>
            <a:endParaRPr lang="en-US" sz="1200" dirty="0"/>
          </a:p>
        </p:txBody>
      </p:sp>
      <p:sp>
        <p:nvSpPr>
          <p:cNvPr id="32" name="Text 30"/>
          <p:cNvSpPr/>
          <p:nvPr/>
        </p:nvSpPr>
        <p:spPr>
          <a:xfrm>
            <a:off x="4530242" y="58978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8 件目</a:t>
            </a:r>
            <a:endParaRPr lang="en-US" sz="1200" dirty="0"/>
          </a:p>
        </p:txBody>
      </p:sp>
      <p:sp>
        <p:nvSpPr>
          <p:cNvPr id="33" name="Shape 31"/>
          <p:cNvSpPr/>
          <p:nvPr/>
        </p:nvSpPr>
        <p:spPr>
          <a:xfrm>
            <a:off x="4530242" y="2876702"/>
            <a:ext cx="3131210" cy="7315"/>
          </a:xfrm>
          <a:prstGeom prst="rect">
            <a:avLst/>
          </a:prstGeom>
          <a:solidFill>
            <a:srgbClr val="D1D5DB"/>
          </a:solidFill>
          <a:ln/>
        </p:spPr>
      </p:sp>
      <p:sp>
        <p:nvSpPr>
          <p:cNvPr id="34" name="Shape 32"/>
          <p:cNvSpPr/>
          <p:nvPr/>
        </p:nvSpPr>
        <p:spPr>
          <a:xfrm>
            <a:off x="4530242" y="3379622"/>
            <a:ext cx="3131210" cy="7315"/>
          </a:xfrm>
          <a:prstGeom prst="rect">
            <a:avLst/>
          </a:prstGeom>
          <a:solidFill>
            <a:srgbClr val="D1D5DB"/>
          </a:solidFill>
          <a:ln/>
        </p:spPr>
      </p:sp>
      <p:sp>
        <p:nvSpPr>
          <p:cNvPr id="35" name="Shape 33"/>
          <p:cNvSpPr/>
          <p:nvPr/>
        </p:nvSpPr>
        <p:spPr>
          <a:xfrm>
            <a:off x="4530242" y="3882542"/>
            <a:ext cx="3131210" cy="7315"/>
          </a:xfrm>
          <a:prstGeom prst="rect">
            <a:avLst/>
          </a:prstGeom>
          <a:solidFill>
            <a:srgbClr val="D1D5DB"/>
          </a:solidFill>
          <a:ln/>
        </p:spPr>
      </p:sp>
      <p:sp>
        <p:nvSpPr>
          <p:cNvPr id="36" name="Shape 34"/>
          <p:cNvSpPr/>
          <p:nvPr/>
        </p:nvSpPr>
        <p:spPr>
          <a:xfrm>
            <a:off x="4530242" y="4385462"/>
            <a:ext cx="3131210" cy="7315"/>
          </a:xfrm>
          <a:prstGeom prst="rect">
            <a:avLst/>
          </a:prstGeom>
          <a:solidFill>
            <a:srgbClr val="D1D5DB"/>
          </a:solidFill>
          <a:ln/>
        </p:spPr>
      </p:sp>
      <p:sp>
        <p:nvSpPr>
          <p:cNvPr id="37" name="Shape 35"/>
          <p:cNvSpPr/>
          <p:nvPr/>
        </p:nvSpPr>
        <p:spPr>
          <a:xfrm>
            <a:off x="4530242" y="4888382"/>
            <a:ext cx="3131210" cy="7315"/>
          </a:xfrm>
          <a:prstGeom prst="rect">
            <a:avLst/>
          </a:prstGeom>
          <a:solidFill>
            <a:srgbClr val="D1D5DB"/>
          </a:solidFill>
          <a:ln/>
        </p:spPr>
      </p:sp>
      <p:sp>
        <p:nvSpPr>
          <p:cNvPr id="38" name="Shape 36"/>
          <p:cNvSpPr/>
          <p:nvPr/>
        </p:nvSpPr>
        <p:spPr>
          <a:xfrm>
            <a:off x="4530242" y="5391302"/>
            <a:ext cx="3131210" cy="7315"/>
          </a:xfrm>
          <a:prstGeom prst="rect">
            <a:avLst/>
          </a:prstGeom>
          <a:solidFill>
            <a:srgbClr val="D1D5DB"/>
          </a:solidFill>
          <a:ln/>
        </p:spPr>
      </p:sp>
      <p:sp>
        <p:nvSpPr>
          <p:cNvPr id="39" name="Shape 37"/>
          <p:cNvSpPr/>
          <p:nvPr/>
        </p:nvSpPr>
        <p:spPr>
          <a:xfrm>
            <a:off x="4530242" y="5894222"/>
            <a:ext cx="3131210" cy="7315"/>
          </a:xfrm>
          <a:prstGeom prst="rect">
            <a:avLst/>
          </a:prstGeom>
          <a:solidFill>
            <a:srgbClr val="D1D5DB"/>
          </a:solidFill>
          <a:ln/>
        </p:spPr>
      </p:sp>
      <p:sp>
        <p:nvSpPr>
          <p:cNvPr id="40" name="Shape 38"/>
          <p:cNvSpPr/>
          <p:nvPr/>
        </p:nvSpPr>
        <p:spPr>
          <a:xfrm>
            <a:off x="8100365" y="1874520"/>
            <a:ext cx="3496970" cy="502920"/>
          </a:xfrm>
          <a:prstGeom prst="rect">
            <a:avLst/>
          </a:prstGeom>
          <a:solidFill>
            <a:srgbClr val="2563EB"/>
          </a:solidFill>
          <a:ln/>
        </p:spPr>
      </p:sp>
      <p:sp>
        <p:nvSpPr>
          <p:cNvPr id="41" name="Text 39"/>
          <p:cNvSpPr/>
          <p:nvPr/>
        </p:nvSpPr>
        <p:spPr>
          <a:xfrm>
            <a:off x="8100365" y="1874520"/>
            <a:ext cx="3496970"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超過 C</a:t>
            </a:r>
            <a:endParaRPr lang="en-US" sz="1300" dirty="0"/>
          </a:p>
        </p:txBody>
      </p:sp>
      <p:sp>
        <p:nvSpPr>
          <p:cNvPr id="42" name="Shape 40"/>
          <p:cNvSpPr/>
          <p:nvPr/>
        </p:nvSpPr>
        <p:spPr>
          <a:xfrm>
            <a:off x="8100365" y="2377440"/>
            <a:ext cx="3496970" cy="4023360"/>
          </a:xfrm>
          <a:prstGeom prst="rect">
            <a:avLst/>
          </a:prstGeom>
          <a:solidFill>
            <a:srgbClr val="FFFFFF"/>
          </a:solidFill>
          <a:ln w="6350">
            <a:solidFill>
              <a:srgbClr val="D1D5DB"/>
            </a:solidFill>
            <a:prstDash val="solid"/>
          </a:ln>
        </p:spPr>
      </p:sp>
      <p:sp>
        <p:nvSpPr>
          <p:cNvPr id="43" name="Text 41"/>
          <p:cNvSpPr/>
          <p:nvPr/>
        </p:nvSpPr>
        <p:spPr>
          <a:xfrm>
            <a:off x="8283245" y="23774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件目</a:t>
            </a:r>
            <a:endParaRPr lang="en-US" sz="1200" dirty="0"/>
          </a:p>
        </p:txBody>
      </p:sp>
      <p:sp>
        <p:nvSpPr>
          <p:cNvPr id="44" name="Text 42"/>
          <p:cNvSpPr/>
          <p:nvPr/>
        </p:nvSpPr>
        <p:spPr>
          <a:xfrm>
            <a:off x="8283245" y="28803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2 件目</a:t>
            </a:r>
            <a:endParaRPr lang="en-US" sz="1200" dirty="0"/>
          </a:p>
        </p:txBody>
      </p:sp>
      <p:sp>
        <p:nvSpPr>
          <p:cNvPr id="45" name="Text 43"/>
          <p:cNvSpPr/>
          <p:nvPr/>
        </p:nvSpPr>
        <p:spPr>
          <a:xfrm>
            <a:off x="8283245" y="33832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3 件目</a:t>
            </a:r>
            <a:endParaRPr lang="en-US" sz="1200" dirty="0"/>
          </a:p>
        </p:txBody>
      </p:sp>
      <p:sp>
        <p:nvSpPr>
          <p:cNvPr id="46" name="Text 44"/>
          <p:cNvSpPr/>
          <p:nvPr/>
        </p:nvSpPr>
        <p:spPr>
          <a:xfrm>
            <a:off x="8283245" y="388620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4 件目</a:t>
            </a:r>
            <a:endParaRPr lang="en-US" sz="1200" dirty="0"/>
          </a:p>
        </p:txBody>
      </p:sp>
      <p:sp>
        <p:nvSpPr>
          <p:cNvPr id="47" name="Text 45"/>
          <p:cNvSpPr/>
          <p:nvPr/>
        </p:nvSpPr>
        <p:spPr>
          <a:xfrm>
            <a:off x="8283245" y="438912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5 件目</a:t>
            </a:r>
            <a:endParaRPr lang="en-US" sz="1200" dirty="0"/>
          </a:p>
        </p:txBody>
      </p:sp>
      <p:sp>
        <p:nvSpPr>
          <p:cNvPr id="48" name="Text 46"/>
          <p:cNvSpPr/>
          <p:nvPr/>
        </p:nvSpPr>
        <p:spPr>
          <a:xfrm>
            <a:off x="8283245" y="489204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6 件目</a:t>
            </a:r>
            <a:endParaRPr lang="en-US" sz="1200" dirty="0"/>
          </a:p>
        </p:txBody>
      </p:sp>
      <p:sp>
        <p:nvSpPr>
          <p:cNvPr id="49" name="Text 47"/>
          <p:cNvSpPr/>
          <p:nvPr/>
        </p:nvSpPr>
        <p:spPr>
          <a:xfrm>
            <a:off x="8283245" y="539496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7 件目</a:t>
            </a:r>
            <a:endParaRPr lang="en-US" sz="1200" dirty="0"/>
          </a:p>
        </p:txBody>
      </p:sp>
      <p:sp>
        <p:nvSpPr>
          <p:cNvPr id="50" name="Text 48"/>
          <p:cNvSpPr/>
          <p:nvPr/>
        </p:nvSpPr>
        <p:spPr>
          <a:xfrm>
            <a:off x="8283245" y="5897880"/>
            <a:ext cx="3131210"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8 件目</a:t>
            </a:r>
            <a:endParaRPr lang="en-US" sz="1200" dirty="0"/>
          </a:p>
        </p:txBody>
      </p:sp>
      <p:sp>
        <p:nvSpPr>
          <p:cNvPr id="51" name="Shape 49"/>
          <p:cNvSpPr/>
          <p:nvPr/>
        </p:nvSpPr>
        <p:spPr>
          <a:xfrm>
            <a:off x="8283245" y="2876702"/>
            <a:ext cx="3131210" cy="7315"/>
          </a:xfrm>
          <a:prstGeom prst="rect">
            <a:avLst/>
          </a:prstGeom>
          <a:solidFill>
            <a:srgbClr val="D1D5DB"/>
          </a:solidFill>
          <a:ln/>
        </p:spPr>
      </p:sp>
      <p:sp>
        <p:nvSpPr>
          <p:cNvPr id="52" name="Shape 50"/>
          <p:cNvSpPr/>
          <p:nvPr/>
        </p:nvSpPr>
        <p:spPr>
          <a:xfrm>
            <a:off x="8283245" y="3379622"/>
            <a:ext cx="3131210" cy="7315"/>
          </a:xfrm>
          <a:prstGeom prst="rect">
            <a:avLst/>
          </a:prstGeom>
          <a:solidFill>
            <a:srgbClr val="D1D5DB"/>
          </a:solidFill>
          <a:ln/>
        </p:spPr>
      </p:sp>
      <p:sp>
        <p:nvSpPr>
          <p:cNvPr id="53" name="Shape 51"/>
          <p:cNvSpPr/>
          <p:nvPr/>
        </p:nvSpPr>
        <p:spPr>
          <a:xfrm>
            <a:off x="8283245" y="3882542"/>
            <a:ext cx="3131210" cy="7315"/>
          </a:xfrm>
          <a:prstGeom prst="rect">
            <a:avLst/>
          </a:prstGeom>
          <a:solidFill>
            <a:srgbClr val="D1D5DB"/>
          </a:solidFill>
          <a:ln/>
        </p:spPr>
      </p:sp>
      <p:sp>
        <p:nvSpPr>
          <p:cNvPr id="54" name="Shape 52"/>
          <p:cNvSpPr/>
          <p:nvPr/>
        </p:nvSpPr>
        <p:spPr>
          <a:xfrm>
            <a:off x="8283245" y="4385462"/>
            <a:ext cx="3131210" cy="7315"/>
          </a:xfrm>
          <a:prstGeom prst="rect">
            <a:avLst/>
          </a:prstGeom>
          <a:solidFill>
            <a:srgbClr val="D1D5DB"/>
          </a:solidFill>
          <a:ln/>
        </p:spPr>
      </p:sp>
      <p:sp>
        <p:nvSpPr>
          <p:cNvPr id="55" name="Shape 53"/>
          <p:cNvSpPr/>
          <p:nvPr/>
        </p:nvSpPr>
        <p:spPr>
          <a:xfrm>
            <a:off x="8283245" y="4888382"/>
            <a:ext cx="3131210" cy="7315"/>
          </a:xfrm>
          <a:prstGeom prst="rect">
            <a:avLst/>
          </a:prstGeom>
          <a:solidFill>
            <a:srgbClr val="D1D5DB"/>
          </a:solidFill>
          <a:ln/>
        </p:spPr>
      </p:sp>
      <p:sp>
        <p:nvSpPr>
          <p:cNvPr id="56" name="Shape 54"/>
          <p:cNvSpPr/>
          <p:nvPr/>
        </p:nvSpPr>
        <p:spPr>
          <a:xfrm>
            <a:off x="8283245" y="5391302"/>
            <a:ext cx="3131210" cy="7315"/>
          </a:xfrm>
          <a:prstGeom prst="rect">
            <a:avLst/>
          </a:prstGeom>
          <a:solidFill>
            <a:srgbClr val="D1D5DB"/>
          </a:solidFill>
          <a:ln/>
        </p:spPr>
      </p:sp>
      <p:sp>
        <p:nvSpPr>
          <p:cNvPr id="57" name="Shape 55"/>
          <p:cNvSpPr/>
          <p:nvPr/>
        </p:nvSpPr>
        <p:spPr>
          <a:xfrm>
            <a:off x="8283245" y="5894222"/>
            <a:ext cx="3131210" cy="7315"/>
          </a:xfrm>
          <a:prstGeom prst="rect">
            <a:avLst/>
          </a:prstGeom>
          <a:solidFill>
            <a:srgbClr val="D1D5DB"/>
          </a:solidFill>
          <a:ln/>
        </p:spPr>
      </p:sp>
      <p:sp>
        <p:nvSpPr>
          <p:cNvPr id="58" name="Text 56"/>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59" name="Text 57"/>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94360" y="502920"/>
            <a:ext cx="11002975" cy="685800"/>
          </a:xfrm>
          <a:prstGeom prst="rect">
            <a:avLst/>
          </a:prstGeom>
          <a:noFill/>
          <a:ln/>
        </p:spPr>
        <p:txBody>
          <a:bodyPr wrap="square" rtlCol="0" anchor="ctr"/>
          <a:lstStyle/>
          <a:p>
            <a:pPr algn="ctr" indent="0" marL="0">
              <a:buNone/>
            </a:pPr>
            <a:r>
              <a:rPr lang="en-US" sz="2800" b="1" dirty="0">
                <a:solidFill>
                  <a:srgbClr val="111827"/>
                </a:solidFill>
                <a:latin typeface="Yu Gothic" pitchFamily="34" charset="0"/>
                <a:ea typeface="Yu Gothic" pitchFamily="34" charset="-122"/>
                <a:cs typeface="Yu Gothic" pitchFamily="34" charset="-120"/>
              </a:rPr>
              <a:t>panel-cards 2 枚 ─ 上限超過（8 件 / 全角 18 字）</a:t>
            </a:r>
            <a:endParaRPr lang="en-US" sz="2800" dirty="0"/>
          </a:p>
        </p:txBody>
      </p:sp>
      <p:sp>
        <p:nvSpPr>
          <p:cNvPr id="3" name="Text 1"/>
          <p:cNvSpPr/>
          <p:nvPr/>
        </p:nvSpPr>
        <p:spPr>
          <a:xfrm>
            <a:off x="594360" y="1261872"/>
            <a:ext cx="11002975" cy="457200"/>
          </a:xfrm>
          <a:prstGeom prst="rect">
            <a:avLst/>
          </a:prstGeom>
          <a:noFill/>
          <a:ln/>
        </p:spPr>
        <p:txBody>
          <a:bodyPr wrap="square" rtlCol="0" anchor="t"/>
          <a:lstStyle/>
          <a:p>
            <a:pPr algn="ctr" indent="0" marL="0">
              <a:buNone/>
            </a:pPr>
            <a:r>
              <a:rPr lang="en-US" sz="1300" b="1" dirty="0">
                <a:solidFill>
                  <a:srgbClr val="4B5563"/>
                </a:solidFill>
                <a:latin typeface="Yu Gothic" pitchFamily="34" charset="0"/>
                <a:ea typeface="Yu Gothic" pitchFamily="34" charset="-122"/>
                <a:cs typeface="Yu Gothic" pitchFamily="34" charset="-120"/>
              </a:rPr>
              <a:t>件数 8 件、一部 item が全角 18 字（上限 17 を 1 字超過）。フッターとの干渉と自動折り返しの挙動を目視確認する。</a:t>
            </a:r>
            <a:endParaRPr lang="en-US" sz="1300" dirty="0"/>
          </a:p>
        </p:txBody>
      </p:sp>
      <p:sp>
        <p:nvSpPr>
          <p:cNvPr id="4" name="Shape 2"/>
          <p:cNvSpPr/>
          <p:nvPr/>
        </p:nvSpPr>
        <p:spPr>
          <a:xfrm>
            <a:off x="2142439" y="1874520"/>
            <a:ext cx="3525926" cy="502920"/>
          </a:xfrm>
          <a:prstGeom prst="rect">
            <a:avLst/>
          </a:prstGeom>
          <a:solidFill>
            <a:srgbClr val="2563EB"/>
          </a:solidFill>
          <a:ln/>
        </p:spPr>
      </p:sp>
      <p:sp>
        <p:nvSpPr>
          <p:cNvPr id="5" name="Text 3"/>
          <p:cNvSpPr/>
          <p:nvPr/>
        </p:nvSpPr>
        <p:spPr>
          <a:xfrm>
            <a:off x="2142439" y="1874520"/>
            <a:ext cx="3525926"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超過 A</a:t>
            </a:r>
            <a:endParaRPr lang="en-US" sz="1300" dirty="0"/>
          </a:p>
        </p:txBody>
      </p:sp>
      <p:sp>
        <p:nvSpPr>
          <p:cNvPr id="6" name="Shape 4"/>
          <p:cNvSpPr/>
          <p:nvPr/>
        </p:nvSpPr>
        <p:spPr>
          <a:xfrm>
            <a:off x="2142439" y="2377440"/>
            <a:ext cx="3525926" cy="4023360"/>
          </a:xfrm>
          <a:prstGeom prst="rect">
            <a:avLst/>
          </a:prstGeom>
          <a:solidFill>
            <a:srgbClr val="FFFFFF"/>
          </a:solidFill>
          <a:ln w="6350">
            <a:solidFill>
              <a:srgbClr val="D1D5DB"/>
            </a:solidFill>
            <a:prstDash val="solid"/>
          </a:ln>
        </p:spPr>
      </p:sp>
      <p:sp>
        <p:nvSpPr>
          <p:cNvPr id="7" name="Text 5"/>
          <p:cNvSpPr/>
          <p:nvPr/>
        </p:nvSpPr>
        <p:spPr>
          <a:xfrm>
            <a:off x="2325319" y="237744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件目</a:t>
            </a:r>
            <a:endParaRPr lang="en-US" sz="1200" dirty="0"/>
          </a:p>
        </p:txBody>
      </p:sp>
      <p:sp>
        <p:nvSpPr>
          <p:cNvPr id="8" name="Text 6"/>
          <p:cNvSpPr/>
          <p:nvPr/>
        </p:nvSpPr>
        <p:spPr>
          <a:xfrm>
            <a:off x="2325319" y="288036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2 件目</a:t>
            </a:r>
            <a:endParaRPr lang="en-US" sz="1200" dirty="0"/>
          </a:p>
        </p:txBody>
      </p:sp>
      <p:sp>
        <p:nvSpPr>
          <p:cNvPr id="9" name="Text 7"/>
          <p:cNvSpPr/>
          <p:nvPr/>
        </p:nvSpPr>
        <p:spPr>
          <a:xfrm>
            <a:off x="2325319" y="338328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3 件目</a:t>
            </a:r>
            <a:endParaRPr lang="en-US" sz="1200" dirty="0"/>
          </a:p>
        </p:txBody>
      </p:sp>
      <p:sp>
        <p:nvSpPr>
          <p:cNvPr id="10" name="Text 8"/>
          <p:cNvSpPr/>
          <p:nvPr/>
        </p:nvSpPr>
        <p:spPr>
          <a:xfrm>
            <a:off x="2325319" y="388620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4 件目</a:t>
            </a:r>
            <a:endParaRPr lang="en-US" sz="1200" dirty="0"/>
          </a:p>
        </p:txBody>
      </p:sp>
      <p:sp>
        <p:nvSpPr>
          <p:cNvPr id="11" name="Text 9"/>
          <p:cNvSpPr/>
          <p:nvPr/>
        </p:nvSpPr>
        <p:spPr>
          <a:xfrm>
            <a:off x="2325319" y="438912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5 件目</a:t>
            </a:r>
            <a:endParaRPr lang="en-US" sz="1200" dirty="0"/>
          </a:p>
        </p:txBody>
      </p:sp>
      <p:sp>
        <p:nvSpPr>
          <p:cNvPr id="12" name="Text 10"/>
          <p:cNvSpPr/>
          <p:nvPr/>
        </p:nvSpPr>
        <p:spPr>
          <a:xfrm>
            <a:off x="2325319" y="489204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6 件目</a:t>
            </a:r>
            <a:endParaRPr lang="en-US" sz="1200" dirty="0"/>
          </a:p>
        </p:txBody>
      </p:sp>
      <p:sp>
        <p:nvSpPr>
          <p:cNvPr id="13" name="Text 11"/>
          <p:cNvSpPr/>
          <p:nvPr/>
        </p:nvSpPr>
        <p:spPr>
          <a:xfrm>
            <a:off x="2325319" y="539496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7 件目</a:t>
            </a:r>
            <a:endParaRPr lang="en-US" sz="1200" dirty="0"/>
          </a:p>
        </p:txBody>
      </p:sp>
      <p:sp>
        <p:nvSpPr>
          <p:cNvPr id="14" name="Text 12"/>
          <p:cNvSpPr/>
          <p:nvPr/>
        </p:nvSpPr>
        <p:spPr>
          <a:xfrm>
            <a:off x="2325319" y="589788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8 件目</a:t>
            </a:r>
            <a:endParaRPr lang="en-US" sz="1200" dirty="0"/>
          </a:p>
        </p:txBody>
      </p:sp>
      <p:sp>
        <p:nvSpPr>
          <p:cNvPr id="15" name="Shape 13"/>
          <p:cNvSpPr/>
          <p:nvPr/>
        </p:nvSpPr>
        <p:spPr>
          <a:xfrm>
            <a:off x="2325319" y="2876702"/>
            <a:ext cx="3160166" cy="7315"/>
          </a:xfrm>
          <a:prstGeom prst="rect">
            <a:avLst/>
          </a:prstGeom>
          <a:solidFill>
            <a:srgbClr val="D1D5DB"/>
          </a:solidFill>
          <a:ln/>
        </p:spPr>
      </p:sp>
      <p:sp>
        <p:nvSpPr>
          <p:cNvPr id="16" name="Shape 14"/>
          <p:cNvSpPr/>
          <p:nvPr/>
        </p:nvSpPr>
        <p:spPr>
          <a:xfrm>
            <a:off x="2325319" y="3379622"/>
            <a:ext cx="3160166" cy="7315"/>
          </a:xfrm>
          <a:prstGeom prst="rect">
            <a:avLst/>
          </a:prstGeom>
          <a:solidFill>
            <a:srgbClr val="D1D5DB"/>
          </a:solidFill>
          <a:ln/>
        </p:spPr>
      </p:sp>
      <p:sp>
        <p:nvSpPr>
          <p:cNvPr id="17" name="Shape 15"/>
          <p:cNvSpPr/>
          <p:nvPr/>
        </p:nvSpPr>
        <p:spPr>
          <a:xfrm>
            <a:off x="2325319" y="3882542"/>
            <a:ext cx="3160166" cy="7315"/>
          </a:xfrm>
          <a:prstGeom prst="rect">
            <a:avLst/>
          </a:prstGeom>
          <a:solidFill>
            <a:srgbClr val="D1D5DB"/>
          </a:solidFill>
          <a:ln/>
        </p:spPr>
      </p:sp>
      <p:sp>
        <p:nvSpPr>
          <p:cNvPr id="18" name="Shape 16"/>
          <p:cNvSpPr/>
          <p:nvPr/>
        </p:nvSpPr>
        <p:spPr>
          <a:xfrm>
            <a:off x="2325319" y="4385462"/>
            <a:ext cx="3160166" cy="7315"/>
          </a:xfrm>
          <a:prstGeom prst="rect">
            <a:avLst/>
          </a:prstGeom>
          <a:solidFill>
            <a:srgbClr val="D1D5DB"/>
          </a:solidFill>
          <a:ln/>
        </p:spPr>
      </p:sp>
      <p:sp>
        <p:nvSpPr>
          <p:cNvPr id="19" name="Shape 17"/>
          <p:cNvSpPr/>
          <p:nvPr/>
        </p:nvSpPr>
        <p:spPr>
          <a:xfrm>
            <a:off x="2325319" y="4888382"/>
            <a:ext cx="3160166" cy="7315"/>
          </a:xfrm>
          <a:prstGeom prst="rect">
            <a:avLst/>
          </a:prstGeom>
          <a:solidFill>
            <a:srgbClr val="D1D5DB"/>
          </a:solidFill>
          <a:ln/>
        </p:spPr>
      </p:sp>
      <p:sp>
        <p:nvSpPr>
          <p:cNvPr id="20" name="Shape 18"/>
          <p:cNvSpPr/>
          <p:nvPr/>
        </p:nvSpPr>
        <p:spPr>
          <a:xfrm>
            <a:off x="2325319" y="5391302"/>
            <a:ext cx="3160166" cy="7315"/>
          </a:xfrm>
          <a:prstGeom prst="rect">
            <a:avLst/>
          </a:prstGeom>
          <a:solidFill>
            <a:srgbClr val="D1D5DB"/>
          </a:solidFill>
          <a:ln/>
        </p:spPr>
      </p:sp>
      <p:sp>
        <p:nvSpPr>
          <p:cNvPr id="21" name="Shape 19"/>
          <p:cNvSpPr/>
          <p:nvPr/>
        </p:nvSpPr>
        <p:spPr>
          <a:xfrm>
            <a:off x="2325319" y="5894222"/>
            <a:ext cx="3160166" cy="7315"/>
          </a:xfrm>
          <a:prstGeom prst="rect">
            <a:avLst/>
          </a:prstGeom>
          <a:solidFill>
            <a:srgbClr val="D1D5DB"/>
          </a:solidFill>
          <a:ln/>
        </p:spPr>
      </p:sp>
      <p:sp>
        <p:nvSpPr>
          <p:cNvPr id="22" name="Shape 20"/>
          <p:cNvSpPr/>
          <p:nvPr/>
        </p:nvSpPr>
        <p:spPr>
          <a:xfrm>
            <a:off x="6523330" y="1874520"/>
            <a:ext cx="3525926" cy="502920"/>
          </a:xfrm>
          <a:prstGeom prst="rect">
            <a:avLst/>
          </a:prstGeom>
          <a:solidFill>
            <a:srgbClr val="2563EB"/>
          </a:solidFill>
          <a:ln/>
        </p:spPr>
      </p:sp>
      <p:sp>
        <p:nvSpPr>
          <p:cNvPr id="23" name="Text 21"/>
          <p:cNvSpPr/>
          <p:nvPr/>
        </p:nvSpPr>
        <p:spPr>
          <a:xfrm>
            <a:off x="6523330" y="1874520"/>
            <a:ext cx="3525926" cy="502920"/>
          </a:xfrm>
          <a:prstGeom prst="rect">
            <a:avLst/>
          </a:prstGeom>
          <a:noFill/>
          <a:ln/>
        </p:spPr>
        <p:txBody>
          <a:bodyPr wrap="square"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超過 B</a:t>
            </a:r>
            <a:endParaRPr lang="en-US" sz="1300" dirty="0"/>
          </a:p>
        </p:txBody>
      </p:sp>
      <p:sp>
        <p:nvSpPr>
          <p:cNvPr id="24" name="Shape 22"/>
          <p:cNvSpPr/>
          <p:nvPr/>
        </p:nvSpPr>
        <p:spPr>
          <a:xfrm>
            <a:off x="6523330" y="2377440"/>
            <a:ext cx="3525926" cy="4023360"/>
          </a:xfrm>
          <a:prstGeom prst="rect">
            <a:avLst/>
          </a:prstGeom>
          <a:solidFill>
            <a:srgbClr val="FFFFFF"/>
          </a:solidFill>
          <a:ln w="6350">
            <a:solidFill>
              <a:srgbClr val="D1D5DB"/>
            </a:solidFill>
            <a:prstDash val="solid"/>
          </a:ln>
        </p:spPr>
      </p:sp>
      <p:sp>
        <p:nvSpPr>
          <p:cNvPr id="25" name="Text 23"/>
          <p:cNvSpPr/>
          <p:nvPr/>
        </p:nvSpPr>
        <p:spPr>
          <a:xfrm>
            <a:off x="6706210" y="237744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1 件目</a:t>
            </a:r>
            <a:endParaRPr lang="en-US" sz="1200" dirty="0"/>
          </a:p>
        </p:txBody>
      </p:sp>
      <p:sp>
        <p:nvSpPr>
          <p:cNvPr id="26" name="Text 24"/>
          <p:cNvSpPr/>
          <p:nvPr/>
        </p:nvSpPr>
        <p:spPr>
          <a:xfrm>
            <a:off x="6706210" y="288036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2 件目</a:t>
            </a:r>
            <a:endParaRPr lang="en-US" sz="1200" dirty="0"/>
          </a:p>
        </p:txBody>
      </p:sp>
      <p:sp>
        <p:nvSpPr>
          <p:cNvPr id="27" name="Text 25"/>
          <p:cNvSpPr/>
          <p:nvPr/>
        </p:nvSpPr>
        <p:spPr>
          <a:xfrm>
            <a:off x="6706210" y="338328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3 件目</a:t>
            </a:r>
            <a:endParaRPr lang="en-US" sz="1200" dirty="0"/>
          </a:p>
        </p:txBody>
      </p:sp>
      <p:sp>
        <p:nvSpPr>
          <p:cNvPr id="28" name="Text 26"/>
          <p:cNvSpPr/>
          <p:nvPr/>
        </p:nvSpPr>
        <p:spPr>
          <a:xfrm>
            <a:off x="6706210" y="388620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上限を一字超える十八字相当の全角文例</a:t>
            </a:r>
            <a:endParaRPr lang="en-US" sz="1200" dirty="0"/>
          </a:p>
        </p:txBody>
      </p:sp>
      <p:sp>
        <p:nvSpPr>
          <p:cNvPr id="29" name="Text 27"/>
          <p:cNvSpPr/>
          <p:nvPr/>
        </p:nvSpPr>
        <p:spPr>
          <a:xfrm>
            <a:off x="6706210" y="438912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5 件目</a:t>
            </a:r>
            <a:endParaRPr lang="en-US" sz="1200" dirty="0"/>
          </a:p>
        </p:txBody>
      </p:sp>
      <p:sp>
        <p:nvSpPr>
          <p:cNvPr id="30" name="Text 28"/>
          <p:cNvSpPr/>
          <p:nvPr/>
        </p:nvSpPr>
        <p:spPr>
          <a:xfrm>
            <a:off x="6706210" y="489204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6 件目</a:t>
            </a:r>
            <a:endParaRPr lang="en-US" sz="1200" dirty="0"/>
          </a:p>
        </p:txBody>
      </p:sp>
      <p:sp>
        <p:nvSpPr>
          <p:cNvPr id="31" name="Text 29"/>
          <p:cNvSpPr/>
          <p:nvPr/>
        </p:nvSpPr>
        <p:spPr>
          <a:xfrm>
            <a:off x="6706210" y="539496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7 件目</a:t>
            </a:r>
            <a:endParaRPr lang="en-US" sz="1200" dirty="0"/>
          </a:p>
        </p:txBody>
      </p:sp>
      <p:sp>
        <p:nvSpPr>
          <p:cNvPr id="32" name="Text 30"/>
          <p:cNvSpPr/>
          <p:nvPr/>
        </p:nvSpPr>
        <p:spPr>
          <a:xfrm>
            <a:off x="6706210" y="5897880"/>
            <a:ext cx="3160166" cy="502920"/>
          </a:xfrm>
          <a:prstGeom prst="rect">
            <a:avLst/>
          </a:prstGeom>
          <a:noFill/>
          <a:ln/>
        </p:spPr>
        <p:txBody>
          <a:bodyPr wrap="square" lIns="0" tIns="0" rIns="0" bIns="0" rtlCol="0" anchor="ctr"/>
          <a:lstStyle/>
          <a:p>
            <a:pPr algn="ctr" indent="0" marL="0">
              <a:buNone/>
            </a:pPr>
            <a:r>
              <a:rPr lang="en-US" sz="1200" dirty="0">
                <a:solidFill>
                  <a:srgbClr val="111827"/>
                </a:solidFill>
                <a:latin typeface="Yu Gothic" pitchFamily="34" charset="0"/>
                <a:ea typeface="Yu Gothic" pitchFamily="34" charset="-122"/>
                <a:cs typeface="Yu Gothic" pitchFamily="34" charset="-120"/>
              </a:rPr>
              <a:t>8 件目</a:t>
            </a:r>
            <a:endParaRPr lang="en-US" sz="1200" dirty="0"/>
          </a:p>
        </p:txBody>
      </p:sp>
      <p:sp>
        <p:nvSpPr>
          <p:cNvPr id="33" name="Shape 31"/>
          <p:cNvSpPr/>
          <p:nvPr/>
        </p:nvSpPr>
        <p:spPr>
          <a:xfrm>
            <a:off x="6706210" y="2876702"/>
            <a:ext cx="3160166" cy="7315"/>
          </a:xfrm>
          <a:prstGeom prst="rect">
            <a:avLst/>
          </a:prstGeom>
          <a:solidFill>
            <a:srgbClr val="D1D5DB"/>
          </a:solidFill>
          <a:ln/>
        </p:spPr>
      </p:sp>
      <p:sp>
        <p:nvSpPr>
          <p:cNvPr id="34" name="Shape 32"/>
          <p:cNvSpPr/>
          <p:nvPr/>
        </p:nvSpPr>
        <p:spPr>
          <a:xfrm>
            <a:off x="6706210" y="3379622"/>
            <a:ext cx="3160166" cy="7315"/>
          </a:xfrm>
          <a:prstGeom prst="rect">
            <a:avLst/>
          </a:prstGeom>
          <a:solidFill>
            <a:srgbClr val="D1D5DB"/>
          </a:solidFill>
          <a:ln/>
        </p:spPr>
      </p:sp>
      <p:sp>
        <p:nvSpPr>
          <p:cNvPr id="35" name="Shape 33"/>
          <p:cNvSpPr/>
          <p:nvPr/>
        </p:nvSpPr>
        <p:spPr>
          <a:xfrm>
            <a:off x="6706210" y="3882542"/>
            <a:ext cx="3160166" cy="7315"/>
          </a:xfrm>
          <a:prstGeom prst="rect">
            <a:avLst/>
          </a:prstGeom>
          <a:solidFill>
            <a:srgbClr val="D1D5DB"/>
          </a:solidFill>
          <a:ln/>
        </p:spPr>
      </p:sp>
      <p:sp>
        <p:nvSpPr>
          <p:cNvPr id="36" name="Shape 34"/>
          <p:cNvSpPr/>
          <p:nvPr/>
        </p:nvSpPr>
        <p:spPr>
          <a:xfrm>
            <a:off x="6706210" y="4385462"/>
            <a:ext cx="3160166" cy="7315"/>
          </a:xfrm>
          <a:prstGeom prst="rect">
            <a:avLst/>
          </a:prstGeom>
          <a:solidFill>
            <a:srgbClr val="D1D5DB"/>
          </a:solidFill>
          <a:ln/>
        </p:spPr>
      </p:sp>
      <p:sp>
        <p:nvSpPr>
          <p:cNvPr id="37" name="Shape 35"/>
          <p:cNvSpPr/>
          <p:nvPr/>
        </p:nvSpPr>
        <p:spPr>
          <a:xfrm>
            <a:off x="6706210" y="4888382"/>
            <a:ext cx="3160166" cy="7315"/>
          </a:xfrm>
          <a:prstGeom prst="rect">
            <a:avLst/>
          </a:prstGeom>
          <a:solidFill>
            <a:srgbClr val="D1D5DB"/>
          </a:solidFill>
          <a:ln/>
        </p:spPr>
      </p:sp>
      <p:sp>
        <p:nvSpPr>
          <p:cNvPr id="38" name="Shape 36"/>
          <p:cNvSpPr/>
          <p:nvPr/>
        </p:nvSpPr>
        <p:spPr>
          <a:xfrm>
            <a:off x="6706210" y="5391302"/>
            <a:ext cx="3160166" cy="7315"/>
          </a:xfrm>
          <a:prstGeom prst="rect">
            <a:avLst/>
          </a:prstGeom>
          <a:solidFill>
            <a:srgbClr val="D1D5DB"/>
          </a:solidFill>
          <a:ln/>
        </p:spPr>
      </p:sp>
      <p:sp>
        <p:nvSpPr>
          <p:cNvPr id="39" name="Shape 37"/>
          <p:cNvSpPr/>
          <p:nvPr/>
        </p:nvSpPr>
        <p:spPr>
          <a:xfrm>
            <a:off x="6706210" y="5894222"/>
            <a:ext cx="3160166" cy="7315"/>
          </a:xfrm>
          <a:prstGeom prst="rect">
            <a:avLst/>
          </a:prstGeom>
          <a:solidFill>
            <a:srgbClr val="D1D5DB"/>
          </a:solidFill>
          <a:ln/>
        </p:spPr>
      </p:sp>
      <p:sp>
        <p:nvSpPr>
          <p:cNvPr id="40" name="Text 38"/>
          <p:cNvSpPr/>
          <p:nvPr/>
        </p:nvSpPr>
        <p:spPr>
          <a:xfrm>
            <a:off x="347472" y="228600"/>
            <a:ext cx="7702083"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境界出力サンプル</a:t>
            </a:r>
            <a:endParaRPr lang="en-US" sz="900" dirty="0"/>
          </a:p>
        </p:txBody>
      </p:sp>
      <p:sp>
        <p:nvSpPr>
          <p:cNvPr id="41" name="Text 39"/>
          <p:cNvSpPr/>
          <p:nvPr/>
        </p:nvSpPr>
        <p:spPr>
          <a:xfrm>
            <a:off x="11002975" y="6492240"/>
            <a:ext cx="9144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サンプル資料 — 全 kind の表示確認</dc:title>
  <dc:subject>PptxGenJS Presentation</dc:subject>
  <dc:creator>PptxGenJS</dc:creator>
  <cp:lastModifiedBy>PptxGenJS</cp:lastModifiedBy>
  <cp:revision>1</cp:revision>
  <dcterms:created xsi:type="dcterms:W3CDTF">2026-07-24T03:10:18Z</dcterms:created>
  <dcterms:modified xsi:type="dcterms:W3CDTF">2026-07-24T03:10:18Z</dcterms:modified>
</cp:coreProperties>
</file>