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テンプレ動作確認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pastel テーマ</a:t>
            </a:r>
            <a:endParaRPr lang="en-US" sz="3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 kind デモ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706728" y="3703320"/>
            <a:ext cx="8778240" cy="100584"/>
          </a:xfrm>
          <a:prstGeom prst="roundRect">
            <a:avLst>
              <a:gd name="adj" fmla="val 50000"/>
            </a:avLst>
          </a:prstGeom>
          <a:solidFill>
            <a:srgbClr val="BBDCC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lead-visual / image-cards / before-after / timeline / matrix 系 ほか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作成日: 2026-07-24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231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ビジュアル系の例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169768" y="3520440"/>
            <a:ext cx="5852160" cy="100584"/>
          </a:xfrm>
          <a:prstGeom prst="roundRect">
            <a:avLst>
              <a:gd name="adj" fmla="val 50000"/>
            </a:avLst>
          </a:prstGeom>
          <a:solidFill>
            <a:srgbClr val="BBD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lead-visual / image-cards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4612"/>
            <a:ext cx="502920" cy="502920"/>
          </a:xfrm>
          <a:prstGeom prst="ellipse">
            <a:avLst/>
          </a:prstGeom>
          <a:solidFill>
            <a:srgbClr val="D6E4E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46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lead-visual の例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43823" y="1527048"/>
            <a:ext cx="2724912" cy="2724912"/>
          </a:xfrm>
          <a:prstGeom prst="ellipse">
            <a:avLst/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43823" y="1527048"/>
            <a:ext cx="2724912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メインビジュアル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618488"/>
            <a:ext cx="7500823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リード文をここに書きます。</a:t>
            </a:r>
            <a:endParaRPr lang="en-US" sz="17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2〜3 行程度のメッセージと、メイン画像・特徴の帯で構成されます。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4526280"/>
            <a:ext cx="11002975" cy="1828800"/>
          </a:xfrm>
          <a:prstGeom prst="roundRect">
            <a:avLst>
              <a:gd name="adj" fmla="val 5000"/>
            </a:avLst>
          </a:prstGeom>
          <a:solidFill>
            <a:srgbClr val="E9F0F5"/>
          </a:solidFill>
          <a:ln/>
        </p:spPr>
      </p:sp>
      <p:sp>
        <p:nvSpPr>
          <p:cNvPr id="9" name="Shape 7"/>
          <p:cNvSpPr/>
          <p:nvPr/>
        </p:nvSpPr>
        <p:spPr>
          <a:xfrm>
            <a:off x="1718272" y="4727448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718272" y="47274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5696712"/>
            <a:ext cx="24307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特徴キャプション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 行まで）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82264" y="4800600"/>
            <a:ext cx="0" cy="1280160"/>
          </a:xfrm>
          <a:prstGeom prst="line">
            <a:avLst/>
          </a:prstGeom>
          <a:noFill/>
          <a:ln w="12700">
            <a:solidFill>
              <a:srgbClr val="DCE1E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331856" y="4727448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331856" y="47274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73704" y="5696712"/>
            <a:ext cx="24307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アイコン画像と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短い説明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5848" y="4800600"/>
            <a:ext cx="0" cy="1280160"/>
          </a:xfrm>
          <a:prstGeom prst="line">
            <a:avLst/>
          </a:prstGeom>
          <a:noFill/>
          <a:ln w="12700">
            <a:solidFill>
              <a:srgbClr val="DCE1E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945440" y="4727448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945440" y="47274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7288" y="5696712"/>
            <a:ext cx="24307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3〜4 件が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収まりやすい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09431" y="4800600"/>
            <a:ext cx="0" cy="1280160"/>
          </a:xfrm>
          <a:prstGeom prst="line">
            <a:avLst/>
          </a:prstGeom>
          <a:noFill/>
          <a:ln w="12700">
            <a:solidFill>
              <a:srgbClr val="DCE1E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559023" y="4727448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559023" y="47274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00871" y="5696712"/>
            <a:ext cx="24307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画像は label で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プレースホルダ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ビジュアル系の例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4612"/>
            <a:ext cx="502920" cy="502920"/>
          </a:xfrm>
          <a:prstGeom prst="ellipse">
            <a:avLst/>
          </a:prstGeom>
          <a:solidFill>
            <a:srgbClr val="D6E4E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46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image-cards の例（flow: true）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896112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flow: true にするとカード間に矢印が入り、時系列・段階の表現になります。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2394128" cy="4828032"/>
          </a:xfrm>
          <a:prstGeom prst="roundRect">
            <a:avLst>
              <a:gd name="adj" fmla="val 4583"/>
            </a:avLst>
          </a:prstGeom>
          <a:solidFill>
            <a:srgbClr val="E8F0F6"/>
          </a:solidFill>
          <a:ln w="9525">
            <a:solidFill>
              <a:srgbClr val="BFD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9344"/>
            <a:ext cx="211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82764" y="2249424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82764" y="2249424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13816" y="3794760"/>
            <a:ext cx="195521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body は文字列。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改行で行を分けます。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1640" y="2830068"/>
            <a:ext cx="329184" cy="256032"/>
          </a:xfrm>
          <a:prstGeom prst="rightArrow">
            <a:avLst/>
          </a:prstGeom>
          <a:solidFill>
            <a:srgbClr val="AFC9DD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3976" y="1481328"/>
            <a:ext cx="2394128" cy="4828032"/>
          </a:xfrm>
          <a:prstGeom prst="roundRect">
            <a:avLst>
              <a:gd name="adj" fmla="val 4583"/>
            </a:avLst>
          </a:prstGeom>
          <a:solidFill>
            <a:srgbClr val="FAF4E1"/>
          </a:solidFill>
          <a:ln w="9525">
            <a:solidFill>
              <a:srgbClr val="E6D6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1136" y="1609344"/>
            <a:ext cx="211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52380" y="2249424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952380" y="2249424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56584" y="3794760"/>
            <a:ext cx="18912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・"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body は配列も可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・"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配列は箇条書きになる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63976" y="5559552"/>
            <a:ext cx="239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1136" y="5815584"/>
            <a:ext cx="21198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conclusion で強調行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31256" y="2830068"/>
            <a:ext cx="329184" cy="256032"/>
          </a:xfrm>
          <a:prstGeom prst="rightArrow">
            <a:avLst/>
          </a:prstGeom>
          <a:solidFill>
            <a:srgbClr val="AFC9DD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3592" y="1481328"/>
            <a:ext cx="2394128" cy="4828032"/>
          </a:xfrm>
          <a:prstGeom prst="roundRect">
            <a:avLst>
              <a:gd name="adj" fmla="val 4583"/>
            </a:avLst>
          </a:prstGeom>
          <a:solidFill>
            <a:srgbClr val="F9EAEC"/>
          </a:solidFill>
          <a:ln w="9525">
            <a:solidFill>
              <a:srgbClr val="E7C2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0752" y="1609344"/>
            <a:ext cx="211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 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21995" y="2249424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821995" y="2249424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53048" y="3794760"/>
            <a:ext cx="195521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カードは 3〜4 枚が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収まりやすい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00871" y="2830068"/>
            <a:ext cx="329184" cy="256032"/>
          </a:xfrm>
          <a:prstGeom prst="rightArrow">
            <a:avLst/>
          </a:prstGeom>
          <a:solidFill>
            <a:srgbClr val="AFC9DD"/>
          </a:solidFill>
          <a:ln/>
        </p:spPr>
      </p:sp>
      <p:sp>
        <p:nvSpPr>
          <p:cNvPr id="26" name="Shape 24"/>
          <p:cNvSpPr/>
          <p:nvPr/>
        </p:nvSpPr>
        <p:spPr>
          <a:xfrm>
            <a:off x="9203207" y="1481328"/>
            <a:ext cx="2394128" cy="4828032"/>
          </a:xfrm>
          <a:prstGeom prst="roundRect">
            <a:avLst>
              <a:gd name="adj" fmla="val 4583"/>
            </a:avLst>
          </a:prstGeom>
          <a:solidFill>
            <a:srgbClr val="EAF2EC"/>
          </a:solidFill>
          <a:ln w="9525">
            <a:solidFill>
              <a:srgbClr val="C2D9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40367" y="1609344"/>
            <a:ext cx="211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E94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 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91611" y="2249424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691611" y="2249424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22663" y="3794760"/>
            <a:ext cx="195521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最後のカードで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結論に落とす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ビジュアル系の例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4612"/>
            <a:ext cx="502920" cy="502920"/>
          </a:xfrm>
          <a:prstGeom prst="ellipse">
            <a:avLst/>
          </a:prstGeom>
          <a:solidFill>
            <a:srgbClr val="D6E4E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46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image-cards の例（variant + summary）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3472586" cy="3685032"/>
          </a:xfrm>
          <a:prstGeom prst="roundRect">
            <a:avLst>
              <a:gd name="adj" fmla="val 3160"/>
            </a:avLst>
          </a:prstGeom>
          <a:solidFill>
            <a:srgbClr val="E8F0F6"/>
          </a:solidFill>
          <a:ln w="9525">
            <a:solidFill>
              <a:srgbClr val="BFD4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9344"/>
            <a:ext cx="319826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04873" y="2249424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804873" y="2249424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3429000"/>
            <a:ext cx="296966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・"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 未指定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・"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パレットは自動ローテーション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4416552"/>
            <a:ext cx="34725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672584"/>
            <a:ext cx="319826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conclusion 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9554" y="1481328"/>
            <a:ext cx="3472586" cy="3685032"/>
          </a:xfrm>
          <a:prstGeom prst="roundRect">
            <a:avLst>
              <a:gd name="adj" fmla="val 3160"/>
            </a:avLst>
          </a:prstGeom>
          <a:solidFill>
            <a:srgbClr val="FAF4E1"/>
          </a:solidFill>
          <a:ln w="9525">
            <a:solidFill>
              <a:srgbClr val="E6D6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6714" y="1609344"/>
            <a:ext cx="319826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87188" y="2249424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387188" y="2249424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52162" y="3794760"/>
            <a:ext cx="296966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・"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variant: "yellow" 等で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・"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パレット色を固定できる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4749" y="1481328"/>
            <a:ext cx="3472586" cy="3685032"/>
          </a:xfrm>
          <a:prstGeom prst="roundRect">
            <a:avLst>
              <a:gd name="adj" fmla="val 3160"/>
            </a:avLst>
          </a:prstGeom>
          <a:solidFill>
            <a:srgbClr val="EAF2EC"/>
          </a:solidFill>
          <a:ln w="9525">
            <a:solidFill>
              <a:srgbClr val="C2D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1909" y="1609344"/>
            <a:ext cx="319826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E94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 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52382" y="2249424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152382" y="2249424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7357" y="3794760"/>
            <a:ext cx="296966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・"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blue / yellow / pink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・"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green / purple が指定可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539496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E9F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" y="5504688"/>
            <a:ext cx="740664" cy="740664"/>
          </a:xfrm>
          <a:prstGeom prst="roundRect">
            <a:avLst>
              <a:gd name="adj" fmla="val 7407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50392" y="5504688"/>
            <a:ext cx="740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まとめアイコン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865376" y="5394960"/>
            <a:ext cx="932047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 を付けると下部にまとめ帯が出ます。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行程度のまとめ文と小さな画像スロットを置けます。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ビジュアル系の例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231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対比・マッピング系の例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169768" y="3520440"/>
            <a:ext cx="5852160" cy="100584"/>
          </a:xfrm>
          <a:prstGeom prst="roundRect">
            <a:avLst>
              <a:gd name="adj" fmla="val 50000"/>
            </a:avLst>
          </a:prstGeom>
          <a:solidFill>
            <a:srgbClr val="BBD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before-after / mapping-rows / hub-spokes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4612"/>
            <a:ext cx="502920" cy="502920"/>
          </a:xfrm>
          <a:prstGeom prst="ellipse">
            <a:avLst/>
          </a:prstGeom>
          <a:solidFill>
            <a:srgbClr val="D6E4E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46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before-after の例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896112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message はタイトル下のサブメッセージです。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913632" cy="4645152"/>
          </a:xfrm>
          <a:prstGeom prst="roundRect">
            <a:avLst>
              <a:gd name="adj" fmla="val 2804"/>
            </a:avLst>
          </a:prstGeom>
          <a:solidFill>
            <a:srgbClr val="F2F4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19072"/>
            <a:ext cx="3273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4460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68680" y="24460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27048" y="224028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各行はテキスト + アイコン画像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3604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68680" y="3360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527048" y="315468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3〜4 行が収まりやすい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087368"/>
            <a:ext cx="3364992" cy="0"/>
          </a:xfrm>
          <a:prstGeom prst="line">
            <a:avLst/>
          </a:prstGeom>
          <a:noFill/>
          <a:ln w="12700">
            <a:solidFill>
              <a:srgbClr val="DCE1E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68680" y="42748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68680" y="4274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527048" y="406908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emphasis: true の行は強調表示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53712" y="3493008"/>
            <a:ext cx="475488" cy="768096"/>
          </a:xfrm>
          <a:prstGeom prst="rightArrow">
            <a:avLst/>
          </a:prstGeom>
          <a:solidFill>
            <a:srgbClr val="AFC9DD"/>
          </a:solidFill>
          <a:ln/>
        </p:spPr>
      </p:sp>
      <p:sp>
        <p:nvSpPr>
          <p:cNvPr id="19" name="Shape 17"/>
          <p:cNvSpPr/>
          <p:nvPr/>
        </p:nvSpPr>
        <p:spPr>
          <a:xfrm>
            <a:off x="5074920" y="1554480"/>
            <a:ext cx="3913632" cy="4645152"/>
          </a:xfrm>
          <a:prstGeom prst="roundRect">
            <a:avLst>
              <a:gd name="adj" fmla="val 2804"/>
            </a:avLst>
          </a:prstGeom>
          <a:solidFill>
            <a:srgbClr val="EAF2EC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719072"/>
            <a:ext cx="3273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94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49240" y="24460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349240" y="24460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007608" y="224028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 側は淡緑パネルになる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49240" y="33604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349240" y="3360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007608" y="315468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行数は左右で揃えると見やすい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49240" y="4087368"/>
            <a:ext cx="3364992" cy="0"/>
          </a:xfrm>
          <a:prstGeom prst="line">
            <a:avLst/>
          </a:prstGeom>
          <a:noFill/>
          <a:ln w="12700">
            <a:solidFill>
              <a:srgbClr val="DCE1E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349240" y="42748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349240" y="4274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007608" y="406908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結果の行を強調する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08592" y="1874520"/>
            <a:ext cx="1968703" cy="1968703"/>
          </a:xfrm>
          <a:prstGeom prst="ellipse">
            <a:avLst/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9308592" y="1874520"/>
            <a:ext cx="1968703" cy="1968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補足ビジュアル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62872" y="4071823"/>
            <a:ext cx="2060143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aside は省略可。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付けると右側に円形画像と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キャプションが出ます。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対比・マッピング系の例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4612"/>
            <a:ext cx="502920" cy="502920"/>
          </a:xfrm>
          <a:prstGeom prst="ellipse">
            <a:avLst/>
          </a:prstGeom>
          <a:solidFill>
            <a:srgbClr val="D6E4E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46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mapping-rows の例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5144872" cy="402336"/>
          </a:xfrm>
          <a:prstGeom prst="roundRect">
            <a:avLst>
              <a:gd name="adj" fmla="val 15909"/>
            </a:avLst>
          </a:prstGeom>
          <a:solidFill>
            <a:srgbClr val="F9EAE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81328"/>
            <a:ext cx="5144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左カラム（課題など）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52464" y="1481328"/>
            <a:ext cx="5144872" cy="402336"/>
          </a:xfrm>
          <a:prstGeom prst="roundRect">
            <a:avLst>
              <a:gd name="adj" fmla="val 15909"/>
            </a:avLst>
          </a:prstGeom>
          <a:solidFill>
            <a:srgbClr val="E8F0F6"/>
          </a:solidFill>
          <a:ln/>
        </p:spPr>
      </p:sp>
      <p:sp>
        <p:nvSpPr>
          <p:cNvPr id="8" name="Text 6"/>
          <p:cNvSpPr/>
          <p:nvPr/>
        </p:nvSpPr>
        <p:spPr>
          <a:xfrm>
            <a:off x="6452464" y="1481328"/>
            <a:ext cx="5144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右カラム（解決策など）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5144872" cy="1350264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E7C2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2157984"/>
            <a:ext cx="310896" cy="310896"/>
          </a:xfrm>
          <a:prstGeom prst="ellipse">
            <a:avLst/>
          </a:prstGeom>
          <a:solidFill>
            <a:srgbClr val="C0707F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21579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121408"/>
            <a:ext cx="3590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行タイトル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505456"/>
            <a:ext cx="372755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body は配列で箇条書き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2〜3 件まで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60824" y="230276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60824" y="2302764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452464" y="2048256"/>
            <a:ext cx="5144872" cy="1350264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BFD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98768" y="2157984"/>
            <a:ext cx="310896" cy="310896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18" name="Text 16"/>
          <p:cNvSpPr/>
          <p:nvPr/>
        </p:nvSpPr>
        <p:spPr>
          <a:xfrm>
            <a:off x="6598768" y="21579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01104" y="2121408"/>
            <a:ext cx="3590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対応行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6784" y="2505456"/>
            <a:ext cx="3727552" cy="801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左の行と同じ数だけ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並べると対応が伝わる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18927" y="230276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618927" y="2302764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830672" y="2540508"/>
            <a:ext cx="530352" cy="365760"/>
          </a:xfrm>
          <a:prstGeom prst="rightArrow">
            <a:avLst/>
          </a:prstGeom>
          <a:solidFill>
            <a:srgbClr val="E7C2C9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526536"/>
            <a:ext cx="5144872" cy="1350264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E6D6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" y="3636264"/>
            <a:ext cx="310896" cy="310896"/>
          </a:xfrm>
          <a:prstGeom prst="ellipse">
            <a:avLst/>
          </a:prstGeom>
          <a:solidFill>
            <a:srgbClr val="A8862F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" y="3636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599688"/>
            <a:ext cx="3590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行タイトル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983736"/>
            <a:ext cx="372755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 で行の色を指定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pink / yellow / green / blue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60824" y="378104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760824" y="3781044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452464" y="3526536"/>
            <a:ext cx="5144872" cy="1350264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BFD4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98768" y="3636264"/>
            <a:ext cx="310896" cy="310896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33" name="Text 31"/>
          <p:cNvSpPr/>
          <p:nvPr/>
        </p:nvSpPr>
        <p:spPr>
          <a:xfrm>
            <a:off x="6598768" y="3636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01104" y="3599688"/>
            <a:ext cx="3590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対応行 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6784" y="3983736"/>
            <a:ext cx="3727552" cy="801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右カラムは variant 省略で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自動ローテーション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18927" y="378104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0618927" y="3781044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830672" y="4018788"/>
            <a:ext cx="530352" cy="365760"/>
          </a:xfrm>
          <a:prstGeom prst="rightArrow">
            <a:avLst/>
          </a:prstGeom>
          <a:solidFill>
            <a:srgbClr val="E6D6A8"/>
          </a:solidFill>
          <a:ln/>
        </p:spPr>
      </p:sp>
      <p:sp>
        <p:nvSpPr>
          <p:cNvPr id="39" name="Shape 37"/>
          <p:cNvSpPr/>
          <p:nvPr/>
        </p:nvSpPr>
        <p:spPr>
          <a:xfrm>
            <a:off x="594360" y="5004816"/>
            <a:ext cx="5144872" cy="1350264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C2D9C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" y="5114544"/>
            <a:ext cx="310896" cy="310896"/>
          </a:xfrm>
          <a:prstGeom prst="ellipse">
            <a:avLst/>
          </a:prstGeom>
          <a:solidFill>
            <a:srgbClr val="5E9475"/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" y="5114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3000" y="5077968"/>
            <a:ext cx="3590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94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行タイトル 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68680" y="5462016"/>
            <a:ext cx="3727552" cy="801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body は文字列でも可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改行で行を分ける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60824" y="525932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4760824" y="5259324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452464" y="5004816"/>
            <a:ext cx="5144872" cy="1350264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BFD4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98768" y="5114544"/>
            <a:ext cx="310896" cy="310896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48" name="Text 46"/>
          <p:cNvSpPr/>
          <p:nvPr/>
        </p:nvSpPr>
        <p:spPr>
          <a:xfrm>
            <a:off x="6598768" y="5114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01104" y="5077968"/>
            <a:ext cx="3590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対応行 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26784" y="5462016"/>
            <a:ext cx="3727552" cy="801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行数は 3〜4 が上限目安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618927" y="525932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10618927" y="5259324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5830672" y="5497068"/>
            <a:ext cx="530352" cy="365760"/>
          </a:xfrm>
          <a:prstGeom prst="rightArrow">
            <a:avLst/>
          </a:prstGeom>
          <a:solidFill>
            <a:srgbClr val="C2D9C9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対比・マッピング系の例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56032"/>
            <a:ext cx="99971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hub-spokes の例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97280" y="1170432"/>
            <a:ext cx="999713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lead は上部の呼びかけ文。hub を中心に spokes が放射状に並びます。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52848" y="2487168"/>
            <a:ext cx="2286000" cy="2286000"/>
          </a:xfrm>
          <a:prstGeom prst="ellipse">
            <a:avLst/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52848" y="2487168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中心画像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84168" y="48280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中心テーマ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18408" y="52303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hub には title / subtitle /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画像スロットを置ける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0016" y="1572768"/>
            <a:ext cx="2788920" cy="896112"/>
          </a:xfrm>
          <a:prstGeom prst="roundRect">
            <a:avLst>
              <a:gd name="adj" fmla="val 16327"/>
            </a:avLst>
          </a:prstGeom>
          <a:solidFill>
            <a:srgbClr val="E8F0F6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737360"/>
            <a:ext cx="566928" cy="566928"/>
          </a:xfrm>
          <a:prstGeom prst="ellipse">
            <a:avLst/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84632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541264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スポーク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41264" y="19385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説明は 1〜2 行の短文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549640" y="1920240"/>
            <a:ext cx="2788920" cy="896112"/>
          </a:xfrm>
          <a:prstGeom prst="roundRect">
            <a:avLst>
              <a:gd name="adj" fmla="val 16327"/>
            </a:avLst>
          </a:prstGeom>
          <a:solidFill>
            <a:srgbClr val="EAF2E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95944" y="2084832"/>
            <a:ext cx="566928" cy="566928"/>
          </a:xfrm>
          <a:prstGeom prst="ellipse">
            <a:avLst/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695944" y="2084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390888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E94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スポーク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90888" y="22860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 でパレット色を指定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1920240"/>
            <a:ext cx="2788920" cy="896112"/>
          </a:xfrm>
          <a:prstGeom prst="roundRect">
            <a:avLst>
              <a:gd name="adj" fmla="val 16327"/>
            </a:avLst>
          </a:prstGeom>
          <a:solidFill>
            <a:srgbClr val="FAF4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" y="2084832"/>
            <a:ext cx="566928" cy="566928"/>
          </a:xfrm>
          <a:prstGeom prst="ellipse">
            <a:avLst/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9224" y="2084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44168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スポーク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44168" y="22860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6〜7 件が収まりやすい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915400" y="2944368"/>
            <a:ext cx="2788920" cy="896112"/>
          </a:xfrm>
          <a:prstGeom prst="roundRect">
            <a:avLst>
              <a:gd name="adj" fmla="val 16327"/>
            </a:avLst>
          </a:prstGeom>
          <a:solidFill>
            <a:srgbClr val="F9EAE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61704" y="3108960"/>
            <a:ext cx="566928" cy="566928"/>
          </a:xfrm>
          <a:prstGeom prst="ellipse">
            <a:avLst/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9061704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9756648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スポーク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56648" y="3310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画像は label のみで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944368"/>
            <a:ext cx="2788920" cy="896112"/>
          </a:xfrm>
          <a:prstGeom prst="roundRect">
            <a:avLst>
              <a:gd name="adj" fmla="val 16327"/>
            </a:avLst>
          </a:prstGeom>
          <a:solidFill>
            <a:srgbClr val="EFEBF7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" y="3108960"/>
            <a:ext cx="566928" cy="566928"/>
          </a:xfrm>
          <a:prstGeom prst="ellipse">
            <a:avLst/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83464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78408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26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スポーク 5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78408" y="3310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プレースホルダ表示になる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613648" y="3968496"/>
            <a:ext cx="2788920" cy="896112"/>
          </a:xfrm>
          <a:prstGeom prst="roundRect">
            <a:avLst>
              <a:gd name="adj" fmla="val 16327"/>
            </a:avLst>
          </a:prstGeom>
          <a:solidFill>
            <a:srgbClr val="E8F0F6"/>
          </a:solidFill>
          <a:ln/>
        </p:spPr>
      </p:sp>
      <p:sp>
        <p:nvSpPr>
          <p:cNvPr id="34" name="Shape 32"/>
          <p:cNvSpPr/>
          <p:nvPr/>
        </p:nvSpPr>
        <p:spPr>
          <a:xfrm>
            <a:off x="8759952" y="4133088"/>
            <a:ext cx="566928" cy="566928"/>
          </a:xfrm>
          <a:prstGeom prst="ellipse">
            <a:avLst/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8759952" y="4133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454896" y="40599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スポーク 6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454896" y="433425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footer で締めの一文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4360" y="5943600"/>
            <a:ext cx="11002975" cy="658368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943600"/>
            <a:ext cx="104543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footer は下部の帯。全体を締めるメッセージを置きます。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対比・マッピング系の例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231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フロー・時系列系の例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169768" y="3520440"/>
            <a:ext cx="5852160" cy="100584"/>
          </a:xfrm>
          <a:prstGeom prst="roundRect">
            <a:avLst>
              <a:gd name="adj" fmla="val 50000"/>
            </a:avLst>
          </a:prstGeom>
          <a:solidFill>
            <a:srgbClr val="BBD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circle-chain / timeline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4612"/>
            <a:ext cx="502920" cy="502920"/>
          </a:xfrm>
          <a:prstGeom prst="ellipse">
            <a:avLst/>
          </a:prstGeom>
          <a:solidFill>
            <a:srgbClr val="D6E4E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46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circle-chain の例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lead は省略可。円形の画像ノードを矢印でつなぎ、展開・広がりを表現します（最大 7 ノード）。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10232" y="2638044"/>
            <a:ext cx="1280160" cy="1280160"/>
          </a:xfrm>
          <a:prstGeom prst="ellipse">
            <a:avLst/>
          </a:prstGeom>
          <a:solidFill>
            <a:srgbClr val="FDFDFD"/>
          </a:solidFill>
          <a:ln w="9525">
            <a:solidFill>
              <a:srgbClr val="BFD4E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310232" y="2638044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27352" y="40096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ノード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26968" y="3186684"/>
            <a:ext cx="219456" cy="182880"/>
          </a:xfrm>
          <a:prstGeom prst="rightArrow">
            <a:avLst/>
          </a:prstGeom>
          <a:solidFill>
            <a:srgbClr val="AFC9DD"/>
          </a:solidFill>
          <a:ln/>
        </p:spPr>
      </p:sp>
      <p:sp>
        <p:nvSpPr>
          <p:cNvPr id="10" name="Shape 8"/>
          <p:cNvSpPr/>
          <p:nvPr/>
        </p:nvSpPr>
        <p:spPr>
          <a:xfrm>
            <a:off x="3883000" y="2638044"/>
            <a:ext cx="1280160" cy="1280160"/>
          </a:xfrm>
          <a:prstGeom prst="ellipse">
            <a:avLst/>
          </a:prstGeom>
          <a:solidFill>
            <a:srgbClr val="FDFDFD"/>
          </a:solidFill>
          <a:ln w="9525">
            <a:solidFill>
              <a:srgbClr val="E6D6A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883000" y="2638044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00120" y="40096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ノード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99736" y="3186684"/>
            <a:ext cx="219456" cy="182880"/>
          </a:xfrm>
          <a:prstGeom prst="rightArrow">
            <a:avLst/>
          </a:prstGeom>
          <a:solidFill>
            <a:srgbClr val="AFC9DD"/>
          </a:solidFill>
          <a:ln/>
        </p:spPr>
      </p:sp>
      <p:sp>
        <p:nvSpPr>
          <p:cNvPr id="14" name="Shape 12"/>
          <p:cNvSpPr/>
          <p:nvPr/>
        </p:nvSpPr>
        <p:spPr>
          <a:xfrm>
            <a:off x="5455768" y="2638044"/>
            <a:ext cx="1280160" cy="1280160"/>
          </a:xfrm>
          <a:prstGeom prst="ellipse">
            <a:avLst/>
          </a:prstGeom>
          <a:solidFill>
            <a:srgbClr val="FDFDFD"/>
          </a:solidFill>
          <a:ln w="9525">
            <a:solidFill>
              <a:srgbClr val="E7C2C9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55768" y="2638044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72888" y="40096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改行も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使える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72504" y="3186684"/>
            <a:ext cx="219456" cy="182880"/>
          </a:xfrm>
          <a:prstGeom prst="rightArrow">
            <a:avLst/>
          </a:prstGeom>
          <a:solidFill>
            <a:srgbClr val="AFC9DD"/>
          </a:solidFill>
          <a:ln/>
        </p:spPr>
      </p:sp>
      <p:sp>
        <p:nvSpPr>
          <p:cNvPr id="18" name="Shape 16"/>
          <p:cNvSpPr/>
          <p:nvPr/>
        </p:nvSpPr>
        <p:spPr>
          <a:xfrm>
            <a:off x="7028536" y="2638044"/>
            <a:ext cx="1280160" cy="1280160"/>
          </a:xfrm>
          <a:prstGeom prst="ellipse">
            <a:avLst/>
          </a:prstGeom>
          <a:solidFill>
            <a:srgbClr val="FDFDFD"/>
          </a:solidFill>
          <a:ln w="9525">
            <a:solidFill>
              <a:srgbClr val="C2D9C9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028536" y="2638044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45656" y="40096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ノード 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45272" y="3186684"/>
            <a:ext cx="219456" cy="182880"/>
          </a:xfrm>
          <a:prstGeom prst="rightArrow">
            <a:avLst/>
          </a:prstGeom>
          <a:solidFill>
            <a:srgbClr val="AFC9DD"/>
          </a:solidFill>
          <a:ln/>
        </p:spPr>
      </p:sp>
      <p:sp>
        <p:nvSpPr>
          <p:cNvPr id="22" name="Shape 20"/>
          <p:cNvSpPr/>
          <p:nvPr/>
        </p:nvSpPr>
        <p:spPr>
          <a:xfrm>
            <a:off x="8601304" y="2638044"/>
            <a:ext cx="1280160" cy="1280160"/>
          </a:xfrm>
          <a:prstGeom prst="ellipse">
            <a:avLst/>
          </a:prstGeom>
          <a:solidFill>
            <a:srgbClr val="FDFDFD"/>
          </a:solidFill>
          <a:ln w="9525">
            <a:solidFill>
              <a:srgbClr val="D0C5E6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601304" y="2638044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8424" y="400964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ノード 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498348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E9F0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" y="523494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50392" y="52349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まとめアイコン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993392" y="4983480"/>
            <a:ext cx="919246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 は省略可。チェーン全体のまとめを下部の帯に置けます。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フロー・時系列系の例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82296" cy="457200"/>
          </a:xfrm>
          <a:prstGeom prst="rect">
            <a:avLst/>
          </a:prstGeom>
          <a:solidFill>
            <a:srgbClr val="4A7BA6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timeline の例（header: "bar"）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3995562"/>
            <a:ext cx="10637215" cy="40234"/>
          </a:xfrm>
          <a:prstGeom prst="rect">
            <a:avLst/>
          </a:prstGeom>
          <a:solidFill>
            <a:srgbClr val="9CC5A8"/>
          </a:solidFill>
          <a:ln/>
        </p:spPr>
      </p:sp>
      <p:sp>
        <p:nvSpPr>
          <p:cNvPr id="5" name="Shape 3"/>
          <p:cNvSpPr/>
          <p:nvPr/>
        </p:nvSpPr>
        <p:spPr>
          <a:xfrm>
            <a:off x="11185855" y="3896807"/>
            <a:ext cx="411480" cy="237744"/>
          </a:xfrm>
          <a:prstGeom prst="rightArrow">
            <a:avLst/>
          </a:prstGeom>
          <a:solidFill>
            <a:srgbClr val="9CC5A8"/>
          </a:solidFill>
          <a:ln/>
        </p:spPr>
      </p:sp>
      <p:sp>
        <p:nvSpPr>
          <p:cNvPr id="6" name="Shape 4"/>
          <p:cNvSpPr/>
          <p:nvPr/>
        </p:nvSpPr>
        <p:spPr>
          <a:xfrm>
            <a:off x="1892008" y="3937955"/>
            <a:ext cx="155448" cy="155448"/>
          </a:xfrm>
          <a:prstGeom prst="ellipse">
            <a:avLst/>
          </a:prstGeom>
          <a:solidFill>
            <a:srgbClr val="5E9475"/>
          </a:solidFill>
          <a:ln/>
        </p:spPr>
      </p:sp>
      <p:sp>
        <p:nvSpPr>
          <p:cNvPr id="7" name="Shape 5"/>
          <p:cNvSpPr/>
          <p:nvPr/>
        </p:nvSpPr>
        <p:spPr>
          <a:xfrm>
            <a:off x="1969732" y="4097975"/>
            <a:ext cx="0" cy="301752"/>
          </a:xfrm>
          <a:prstGeom prst="line">
            <a:avLst/>
          </a:prstGeom>
          <a:noFill/>
          <a:ln w="15875">
            <a:solidFill>
              <a:srgbClr val="9CC5A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4834067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4834067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19072" y="4454591"/>
            <a:ext cx="566928" cy="566928"/>
          </a:xfrm>
          <a:prstGeom prst="ellipse">
            <a:avLst/>
          </a:prstGeom>
          <a:solidFill>
            <a:srgbClr val="E8F0F6"/>
          </a:solidFill>
          <a:ln/>
        </p:spPr>
      </p:sp>
      <p:sp>
        <p:nvSpPr>
          <p:cNvPr id="11" name="Text 9"/>
          <p:cNvSpPr/>
          <p:nvPr/>
        </p:nvSpPr>
        <p:spPr>
          <a:xfrm>
            <a:off x="1719072" y="4454591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95728" y="4454591"/>
            <a:ext cx="1296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19072" y="5112959"/>
            <a:ext cx="1991792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header: "bar" にすると見出しが番号バッジではなく縦バー付きになります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42752" y="3937955"/>
            <a:ext cx="155448" cy="155448"/>
          </a:xfrm>
          <a:prstGeom prst="ellipse">
            <a:avLst/>
          </a:prstGeom>
          <a:solidFill>
            <a:srgbClr val="5E9475"/>
          </a:solidFill>
          <a:ln/>
        </p:spPr>
      </p:sp>
      <p:sp>
        <p:nvSpPr>
          <p:cNvPr id="15" name="Shape 13"/>
          <p:cNvSpPr/>
          <p:nvPr/>
        </p:nvSpPr>
        <p:spPr>
          <a:xfrm>
            <a:off x="4720476" y="3631631"/>
            <a:ext cx="0" cy="301752"/>
          </a:xfrm>
          <a:prstGeom prst="line">
            <a:avLst/>
          </a:prstGeom>
          <a:noFill/>
          <a:ln w="15875">
            <a:solidFill>
              <a:srgbClr val="9CC5A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093644" y="2008571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093644" y="2008571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64076" y="1629095"/>
            <a:ext cx="566928" cy="566928"/>
          </a:xfrm>
          <a:prstGeom prst="ellipse">
            <a:avLst/>
          </a:prstGeom>
          <a:solidFill>
            <a:srgbClr val="FAF4E1"/>
          </a:solidFill>
          <a:ln/>
        </p:spPr>
      </p:sp>
      <p:sp>
        <p:nvSpPr>
          <p:cNvPr id="19" name="Text 17"/>
          <p:cNvSpPr/>
          <p:nvPr/>
        </p:nvSpPr>
        <p:spPr>
          <a:xfrm>
            <a:off x="4264076" y="1629095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40732" y="1629095"/>
            <a:ext cx="1296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64076" y="2287463"/>
            <a:ext cx="1991792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は短く、description で 1〜2 行の説明を書きます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93495" y="3937955"/>
            <a:ext cx="155448" cy="155448"/>
          </a:xfrm>
          <a:prstGeom prst="ellipse">
            <a:avLst/>
          </a:prstGeom>
          <a:solidFill>
            <a:srgbClr val="5E9475"/>
          </a:solidFill>
          <a:ln/>
        </p:spPr>
      </p:sp>
      <p:sp>
        <p:nvSpPr>
          <p:cNvPr id="23" name="Shape 21"/>
          <p:cNvSpPr/>
          <p:nvPr/>
        </p:nvSpPr>
        <p:spPr>
          <a:xfrm>
            <a:off x="7471219" y="4097975"/>
            <a:ext cx="0" cy="301752"/>
          </a:xfrm>
          <a:prstGeom prst="line">
            <a:avLst/>
          </a:prstGeom>
          <a:noFill/>
          <a:ln w="15875">
            <a:solidFill>
              <a:srgbClr val="9CC5A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844388" y="4834067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844388" y="4834067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14820" y="4454591"/>
            <a:ext cx="566928" cy="566928"/>
          </a:xfrm>
          <a:prstGeom prst="ellipse">
            <a:avLst/>
          </a:prstGeom>
          <a:solidFill>
            <a:srgbClr val="F9EAEC"/>
          </a:solidFill>
          <a:ln/>
        </p:spPr>
      </p:sp>
      <p:sp>
        <p:nvSpPr>
          <p:cNvPr id="27" name="Text 25"/>
          <p:cNvSpPr/>
          <p:nvPr/>
        </p:nvSpPr>
        <p:spPr>
          <a:xfrm>
            <a:off x="7014820" y="4454591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91476" y="4454591"/>
            <a:ext cx="1296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14820" y="5112959"/>
            <a:ext cx="1991792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ステップは 3〜4 件が収まりやすい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144239" y="3937955"/>
            <a:ext cx="155448" cy="155448"/>
          </a:xfrm>
          <a:prstGeom prst="ellipse">
            <a:avLst/>
          </a:prstGeom>
          <a:solidFill>
            <a:srgbClr val="5E947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21963" y="3631631"/>
            <a:ext cx="0" cy="301752"/>
          </a:xfrm>
          <a:prstGeom prst="line">
            <a:avLst/>
          </a:prstGeom>
          <a:noFill/>
          <a:ln w="15875">
            <a:solidFill>
              <a:srgbClr val="9CC5A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389391" y="2008571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389391" y="2008571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559823" y="1629095"/>
            <a:ext cx="566928" cy="566928"/>
          </a:xfrm>
          <a:prstGeom prst="ellipse">
            <a:avLst/>
          </a:prstGeom>
          <a:solidFill>
            <a:srgbClr val="EAF2EC"/>
          </a:solidFill>
          <a:ln/>
        </p:spPr>
      </p:sp>
      <p:sp>
        <p:nvSpPr>
          <p:cNvPr id="35" name="Text 33"/>
          <p:cNvSpPr/>
          <p:nvPr/>
        </p:nvSpPr>
        <p:spPr>
          <a:xfrm>
            <a:off x="9559823" y="1629095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E94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E94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36479" y="1629095"/>
            <a:ext cx="1296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 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59823" y="2287463"/>
            <a:ext cx="1991792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最後のステップで到達点を示す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フロー・時系列系の例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231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表・マトリクス系の例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169768" y="3520440"/>
            <a:ext cx="5852160" cy="100584"/>
          </a:xfrm>
          <a:prstGeom prst="roundRect">
            <a:avLst>
              <a:gd name="adj" fmla="val 50000"/>
            </a:avLst>
          </a:prstGeom>
          <a:solidFill>
            <a:srgbClr val="BBD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matrix-table / spec-rows / step-matrix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82296" cy="457200"/>
          </a:xfrm>
          <a:prstGeom prst="rect">
            <a:avLst/>
          </a:prstGeom>
          <a:solidFill>
            <a:srgbClr val="4A7BA6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matrix-table の例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670048" y="1481328"/>
            <a:ext cx="2902610" cy="438912"/>
          </a:xfrm>
          <a:prstGeom prst="roundRect">
            <a:avLst>
              <a:gd name="adj" fmla="val 14583"/>
            </a:avLst>
          </a:prstGeom>
          <a:solidFill>
            <a:srgbClr val="E8F0F6"/>
          </a:solidFill>
          <a:ln/>
        </p:spPr>
      </p:sp>
      <p:sp>
        <p:nvSpPr>
          <p:cNvPr id="5" name="Text 3"/>
          <p:cNvSpPr/>
          <p:nvPr/>
        </p:nvSpPr>
        <p:spPr>
          <a:xfrm>
            <a:off x="2670048" y="1481328"/>
            <a:ext cx="290261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案 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82386" y="1481328"/>
            <a:ext cx="2902610" cy="438912"/>
          </a:xfrm>
          <a:prstGeom prst="roundRect">
            <a:avLst>
              <a:gd name="adj" fmla="val 14583"/>
            </a:avLst>
          </a:prstGeom>
          <a:solidFill>
            <a:srgbClr val="EAF2EC"/>
          </a:solidFill>
          <a:ln/>
        </p:spPr>
      </p:sp>
      <p:sp>
        <p:nvSpPr>
          <p:cNvPr id="7" name="Text 5"/>
          <p:cNvSpPr/>
          <p:nvPr/>
        </p:nvSpPr>
        <p:spPr>
          <a:xfrm>
            <a:off x="5682386" y="1481328"/>
            <a:ext cx="290261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94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案 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94725" y="1481328"/>
            <a:ext cx="2902610" cy="438912"/>
          </a:xfrm>
          <a:prstGeom prst="roundRect">
            <a:avLst>
              <a:gd name="adj" fmla="val 14583"/>
            </a:avLst>
          </a:prstGeom>
          <a:solidFill>
            <a:srgbClr val="FAF4E1"/>
          </a:solidFill>
          <a:ln/>
        </p:spPr>
      </p:sp>
      <p:sp>
        <p:nvSpPr>
          <p:cNvPr id="9" name="Text 7"/>
          <p:cNvSpPr/>
          <p:nvPr/>
        </p:nvSpPr>
        <p:spPr>
          <a:xfrm>
            <a:off x="8694725" y="1481328"/>
            <a:ext cx="290261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案 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029968"/>
            <a:ext cx="1965960" cy="822960"/>
          </a:xfrm>
          <a:prstGeom prst="roundRect">
            <a:avLst>
              <a:gd name="adj" fmla="val 6667"/>
            </a:avLst>
          </a:prstGeom>
          <a:solidFill>
            <a:srgbClr val="ED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" y="22494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79576" y="2029968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70048" y="2029968"/>
            <a:ext cx="290261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2029968"/>
            <a:ext cx="18144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セルは text + 画像の形式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86274" y="2103120"/>
            <a:ext cx="676656" cy="676656"/>
          </a:xfrm>
          <a:prstGeom prst="roundRect">
            <a:avLst>
              <a:gd name="adj" fmla="val 8108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786274" y="210312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682386" y="2029968"/>
            <a:ext cx="290261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28690" y="2029968"/>
            <a:ext cx="18144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列ごとに比較して書く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98613" y="2103120"/>
            <a:ext cx="676656" cy="676656"/>
          </a:xfrm>
          <a:prstGeom prst="roundRect">
            <a:avLst>
              <a:gd name="adj" fmla="val 8108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798613" y="210312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8694725" y="2029968"/>
            <a:ext cx="290261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41029" y="2029968"/>
            <a:ext cx="18144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列までが目安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810951" y="2103120"/>
            <a:ext cx="676656" cy="676656"/>
          </a:xfrm>
          <a:prstGeom prst="roundRect">
            <a:avLst>
              <a:gd name="adj" fmla="val 8108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0810951" y="210312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94360" y="2962656"/>
            <a:ext cx="1965960" cy="822960"/>
          </a:xfrm>
          <a:prstGeom prst="roundRect">
            <a:avLst>
              <a:gd name="adj" fmla="val 6667"/>
            </a:avLst>
          </a:prstGeom>
          <a:solidFill>
            <a:srgbClr val="EDF3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3182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179576" y="2962656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70048" y="2962656"/>
            <a:ext cx="290261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3054096"/>
            <a:ext cx="18144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items 配列で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箇条書きセルも可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86274" y="3035808"/>
            <a:ext cx="676656" cy="676656"/>
          </a:xfrm>
          <a:prstGeom prst="roundRect">
            <a:avLst>
              <a:gd name="adj" fmla="val 8108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786274" y="3035808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682386" y="2962656"/>
            <a:ext cx="290261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8690" y="3054096"/>
            <a:ext cx="18144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行ごとにセルの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形式を変えられる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98613" y="3035808"/>
            <a:ext cx="676656" cy="676656"/>
          </a:xfrm>
          <a:prstGeom prst="roundRect">
            <a:avLst>
              <a:gd name="adj" fmla="val 8108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798613" y="3035808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8694725" y="2962656"/>
            <a:ext cx="290261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41029" y="3054096"/>
            <a:ext cx="18144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文字列だけでも可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810951" y="3035808"/>
            <a:ext cx="676656" cy="676656"/>
          </a:xfrm>
          <a:prstGeom prst="roundRect">
            <a:avLst>
              <a:gd name="adj" fmla="val 8108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0810951" y="3035808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94360" y="3895344"/>
            <a:ext cx="1965960" cy="475488"/>
          </a:xfrm>
          <a:prstGeom prst="roundRect">
            <a:avLst>
              <a:gd name="adj" fmla="val 11538"/>
            </a:avLst>
          </a:prstGeom>
          <a:solidFill>
            <a:srgbClr val="EDF3F8"/>
          </a:solidFill>
          <a:ln/>
        </p:spPr>
      </p:sp>
      <p:sp>
        <p:nvSpPr>
          <p:cNvPr id="41" name="Shape 39"/>
          <p:cNvSpPr/>
          <p:nvPr/>
        </p:nvSpPr>
        <p:spPr>
          <a:xfrm>
            <a:off x="722376" y="398678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179576" y="389534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 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70048" y="3895344"/>
            <a:ext cx="290261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16352" y="3895344"/>
            <a:ext cx="26282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82386" y="3895344"/>
            <a:ext cx="290261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28690" y="3895344"/>
            <a:ext cx="26282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694725" y="3895344"/>
            <a:ext cx="290261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41029" y="3895344"/>
            <a:ext cx="26282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" y="4480560"/>
            <a:ext cx="1965960" cy="475488"/>
          </a:xfrm>
          <a:prstGeom prst="roundRect">
            <a:avLst>
              <a:gd name="adj" fmla="val 11538"/>
            </a:avLst>
          </a:prstGeom>
          <a:solidFill>
            <a:srgbClr val="EDF3F8"/>
          </a:solidFill>
          <a:ln/>
        </p:spPr>
      </p:sp>
      <p:sp>
        <p:nvSpPr>
          <p:cNvPr id="50" name="Shape 48"/>
          <p:cNvSpPr/>
          <p:nvPr/>
        </p:nvSpPr>
        <p:spPr>
          <a:xfrm>
            <a:off x="722376" y="45720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179576" y="448056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 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670048" y="4480560"/>
            <a:ext cx="290261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16352" y="4480560"/>
            <a:ext cx="26282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少量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82386" y="4480560"/>
            <a:ext cx="290261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28690" y="4480560"/>
            <a:ext cx="26282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中量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694725" y="4480560"/>
            <a:ext cx="290261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41029" y="4480560"/>
            <a:ext cx="26282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多量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4360" y="5065776"/>
            <a:ext cx="1965960" cy="475488"/>
          </a:xfrm>
          <a:prstGeom prst="roundRect">
            <a:avLst>
              <a:gd name="adj" fmla="val 11538"/>
            </a:avLst>
          </a:prstGeom>
          <a:solidFill>
            <a:srgbClr val="EDF3F8"/>
          </a:solidFill>
          <a:ln/>
        </p:spPr>
      </p:sp>
      <p:sp>
        <p:nvSpPr>
          <p:cNvPr id="59" name="Shape 57"/>
          <p:cNvSpPr/>
          <p:nvPr/>
        </p:nvSpPr>
        <p:spPr>
          <a:xfrm>
            <a:off x="722376" y="51572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1179576" y="506577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 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670048" y="5065776"/>
            <a:ext cx="290261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16352" y="5065776"/>
            <a:ext cx="26282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セルは短文で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改行も使える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82386" y="5065776"/>
            <a:ext cx="290261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28690" y="5065776"/>
            <a:ext cx="26282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行数が多いときは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文字数を絞る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694725" y="5065776"/>
            <a:ext cx="290261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41029" y="5065776"/>
            <a:ext cx="26282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5〜7 行が上限目安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表・マトリクス系の例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82296" cy="457200"/>
          </a:xfrm>
          <a:prstGeom prst="rect">
            <a:avLst/>
          </a:prstGeom>
          <a:solidFill>
            <a:srgbClr val="4A7BA6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spec-rows の例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2286000" cy="711926"/>
          </a:xfrm>
          <a:prstGeom prst="roundRect">
            <a:avLst>
              <a:gd name="adj" fmla="val 8991"/>
            </a:avLst>
          </a:prstGeom>
          <a:solidFill>
            <a:srgbClr val="E3EDF5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36123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252728" y="1481328"/>
            <a:ext cx="150876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44952" y="1481328"/>
            <a:ext cx="8552383" cy="711926"/>
          </a:xfrm>
          <a:prstGeom prst="roundRect">
            <a:avLst>
              <a:gd name="adj" fmla="val 8991"/>
            </a:avLst>
          </a:prstGeom>
          <a:solidFill>
            <a:srgbClr val="FFFFFF"/>
          </a:solidFill>
          <a:ln w="9525">
            <a:solidFill>
              <a:srgbClr val="BFD4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0984" y="1481328"/>
            <a:ext cx="7317943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は文字列。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改行で 2 行にできます。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894553" y="1554480"/>
            <a:ext cx="565622" cy="565622"/>
          </a:xfrm>
          <a:prstGeom prst="roundRect">
            <a:avLst>
              <a:gd name="adj" fmla="val 970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894553" y="1554480"/>
            <a:ext cx="565622" cy="565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94360" y="2302982"/>
            <a:ext cx="2286000" cy="1587137"/>
          </a:xfrm>
          <a:prstGeom prst="roundRect">
            <a:avLst>
              <a:gd name="adj" fmla="val 4033"/>
            </a:avLst>
          </a:prstGeom>
          <a:solidFill>
            <a:srgbClr val="E3E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289538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52728" y="2302982"/>
            <a:ext cx="1508760" cy="1587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44952" y="2302982"/>
            <a:ext cx="8552383" cy="1587137"/>
          </a:xfrm>
          <a:prstGeom prst="roundRect">
            <a:avLst>
              <a:gd name="adj" fmla="val 4033"/>
            </a:avLst>
          </a:prstGeom>
          <a:solidFill>
            <a:srgbClr val="FFFFFF"/>
          </a:solidFill>
          <a:ln w="9525">
            <a:solidFill>
              <a:srgbClr val="BFD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2394422"/>
            <a:ext cx="7317943" cy="1404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は配列も可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配列は箇条書きになる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・"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 件まで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682935" y="270793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682935" y="270793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94360" y="3999847"/>
            <a:ext cx="2286000" cy="711926"/>
          </a:xfrm>
          <a:prstGeom prst="roundRect">
            <a:avLst>
              <a:gd name="adj" fmla="val 8991"/>
            </a:avLst>
          </a:prstGeom>
          <a:solidFill>
            <a:srgbClr val="E3ED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" y="415464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252728" y="3999847"/>
            <a:ext cx="150876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44952" y="3999847"/>
            <a:ext cx="8552383" cy="711926"/>
          </a:xfrm>
          <a:prstGeom prst="roundRect">
            <a:avLst>
              <a:gd name="adj" fmla="val 8991"/>
            </a:avLst>
          </a:prstGeom>
          <a:solidFill>
            <a:srgbClr val="FFFFFF"/>
          </a:solidFill>
          <a:ln w="9525">
            <a:solidFill>
              <a:srgbClr val="BFD4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3999847"/>
            <a:ext cx="7317943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image は省略可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821501"/>
            <a:ext cx="2286000" cy="711926"/>
          </a:xfrm>
          <a:prstGeom prst="roundRect">
            <a:avLst>
              <a:gd name="adj" fmla="val 8991"/>
            </a:avLst>
          </a:prstGeom>
          <a:solidFill>
            <a:srgbClr val="E3EDF5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976295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252728" y="4821501"/>
            <a:ext cx="150876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 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44952" y="4821501"/>
            <a:ext cx="8552383" cy="711926"/>
          </a:xfrm>
          <a:prstGeom prst="roundRect">
            <a:avLst>
              <a:gd name="adj" fmla="val 8991"/>
            </a:avLst>
          </a:prstGeom>
          <a:solidFill>
            <a:srgbClr val="FFFFFF"/>
          </a:solidFill>
          <a:ln w="9525">
            <a:solidFill>
              <a:srgbClr val="BFD4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0984" y="4821501"/>
            <a:ext cx="7317943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行数は 5〜8 行が目安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894553" y="4894653"/>
            <a:ext cx="565622" cy="565622"/>
          </a:xfrm>
          <a:prstGeom prst="roundRect">
            <a:avLst>
              <a:gd name="adj" fmla="val 970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0894553" y="4894653"/>
            <a:ext cx="565622" cy="565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94360" y="5643154"/>
            <a:ext cx="2286000" cy="711926"/>
          </a:xfrm>
          <a:prstGeom prst="roundRect">
            <a:avLst>
              <a:gd name="adj" fmla="val 8991"/>
            </a:avLst>
          </a:prstGeom>
          <a:solidFill>
            <a:srgbClr val="E3EDF5"/>
          </a:solidFill>
          <a:ln/>
        </p:spPr>
      </p:sp>
      <p:sp>
        <p:nvSpPr>
          <p:cNvPr id="31" name="Shape 29"/>
          <p:cNvSpPr/>
          <p:nvPr/>
        </p:nvSpPr>
        <p:spPr>
          <a:xfrm>
            <a:off x="758952" y="5797949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252728" y="5643154"/>
            <a:ext cx="150876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 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44952" y="5643154"/>
            <a:ext cx="8552383" cy="711926"/>
          </a:xfrm>
          <a:prstGeom prst="roundRect">
            <a:avLst>
              <a:gd name="adj" fmla="val 8991"/>
            </a:avLst>
          </a:prstGeom>
          <a:solidFill>
            <a:srgbClr val="FFFFFF"/>
          </a:solidFill>
          <a:ln w="9525">
            <a:solidFill>
              <a:srgbClr val="BFD4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5643154"/>
            <a:ext cx="7317943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icon の label は 1〜3 文字程度の短い語にする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894553" y="5716306"/>
            <a:ext cx="565622" cy="565622"/>
          </a:xfrm>
          <a:prstGeom prst="roundRect">
            <a:avLst>
              <a:gd name="adj" fmla="val 970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0894553" y="5716306"/>
            <a:ext cx="565622" cy="565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表・マトリクス系の例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82296" cy="457200"/>
          </a:xfrm>
          <a:prstGeom prst="rect">
            <a:avLst/>
          </a:prstGeom>
          <a:solidFill>
            <a:srgbClr val="4A7BA6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292608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step-matrix の例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785616" y="1481328"/>
            <a:ext cx="1511137" cy="347472"/>
          </a:xfrm>
          <a:prstGeom prst="roundRect">
            <a:avLst>
              <a:gd name="adj" fmla="val 15789"/>
            </a:avLst>
          </a:prstGeom>
          <a:solidFill>
            <a:srgbClr val="E9F0F5"/>
          </a:solidFill>
          <a:ln/>
        </p:spPr>
      </p:sp>
      <p:sp>
        <p:nvSpPr>
          <p:cNvPr id="5" name="Text 3"/>
          <p:cNvSpPr/>
          <p:nvPr/>
        </p:nvSpPr>
        <p:spPr>
          <a:xfrm>
            <a:off x="3785616" y="1481328"/>
            <a:ext cx="151113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 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24769" y="1481328"/>
            <a:ext cx="3928957" cy="347472"/>
          </a:xfrm>
          <a:prstGeom prst="roundRect">
            <a:avLst>
              <a:gd name="adj" fmla="val 15789"/>
            </a:avLst>
          </a:prstGeom>
          <a:solidFill>
            <a:srgbClr val="E9F0F5"/>
          </a:solidFill>
          <a:ln/>
        </p:spPr>
      </p:sp>
      <p:sp>
        <p:nvSpPr>
          <p:cNvPr id="7" name="Text 5"/>
          <p:cNvSpPr/>
          <p:nvPr/>
        </p:nvSpPr>
        <p:spPr>
          <a:xfrm>
            <a:off x="5424769" y="1481328"/>
            <a:ext cx="392895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 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481743" y="1481328"/>
            <a:ext cx="2115592" cy="347472"/>
          </a:xfrm>
          <a:prstGeom prst="roundRect">
            <a:avLst>
              <a:gd name="adj" fmla="val 15789"/>
            </a:avLst>
          </a:prstGeom>
          <a:solidFill>
            <a:srgbClr val="E9F0F5"/>
          </a:solidFill>
          <a:ln/>
        </p:spPr>
      </p:sp>
      <p:sp>
        <p:nvSpPr>
          <p:cNvPr id="9" name="Text 7"/>
          <p:cNvSpPr/>
          <p:nvPr/>
        </p:nvSpPr>
        <p:spPr>
          <a:xfrm>
            <a:off x="9481743" y="1481328"/>
            <a:ext cx="2115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 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1956816"/>
            <a:ext cx="3063240" cy="1121664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BFD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2279904"/>
            <a:ext cx="475488" cy="475488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2279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07592" y="2002536"/>
            <a:ext cx="2194560" cy="57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 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07592" y="2540081"/>
            <a:ext cx="2194560" cy="493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sublabel で補足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25396" y="3092196"/>
            <a:ext cx="201168" cy="137160"/>
          </a:xfrm>
          <a:prstGeom prst="downArrow">
            <a:avLst/>
          </a:prstGeom>
          <a:solidFill>
            <a:srgbClr val="AFC9DD"/>
          </a:solidFill>
          <a:ln/>
        </p:spPr>
      </p:sp>
      <p:sp>
        <p:nvSpPr>
          <p:cNvPr id="16" name="Shape 14"/>
          <p:cNvSpPr/>
          <p:nvPr/>
        </p:nvSpPr>
        <p:spPr>
          <a:xfrm>
            <a:off x="3785616" y="1956816"/>
            <a:ext cx="1511137" cy="1121664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56816"/>
            <a:ext cx="1328257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文字列セル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24769" y="1956816"/>
            <a:ext cx="3928957" cy="1121664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2785" y="2029968"/>
            <a:ext cx="3691213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配列セルは</a:t>
            </a:r>
            <a:endParaRPr lang="en-US" sz="9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箇条書きになる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481743" y="1956816"/>
            <a:ext cx="2115592" cy="1121664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9759" y="2029968"/>
            <a:ext cx="187784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観点ごとに</a:t>
            </a:r>
            <a:endParaRPr lang="en-US" sz="9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形式を選べる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243072"/>
            <a:ext cx="3063240" cy="1121664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C2D9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" y="3566160"/>
            <a:ext cx="475488" cy="475488"/>
          </a:xfrm>
          <a:prstGeom prst="ellipse">
            <a:avLst/>
          </a:prstGeom>
          <a:solidFill>
            <a:srgbClr val="5E9475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3566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307592" y="3288792"/>
            <a:ext cx="2194560" cy="57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E94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 2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307592" y="3826337"/>
            <a:ext cx="2194560" cy="493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 で色指定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25396" y="4378452"/>
            <a:ext cx="201168" cy="137160"/>
          </a:xfrm>
          <a:prstGeom prst="downArrow">
            <a:avLst/>
          </a:prstGeom>
          <a:solidFill>
            <a:srgbClr val="AFC9DD"/>
          </a:solidFill>
          <a:ln/>
        </p:spPr>
      </p:sp>
      <p:sp>
        <p:nvSpPr>
          <p:cNvPr id="28" name="Shape 26"/>
          <p:cNvSpPr/>
          <p:nvPr/>
        </p:nvSpPr>
        <p:spPr>
          <a:xfrm>
            <a:off x="3785616" y="3243072"/>
            <a:ext cx="1511137" cy="1121664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77056" y="3243072"/>
            <a:ext cx="1328257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24769" y="3243072"/>
            <a:ext cx="3928957" cy="1121664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2785" y="3316224"/>
            <a:ext cx="3691213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セル内の件数は</a:t>
            </a:r>
            <a:endParaRPr lang="en-US" sz="9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2〜4 件まで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481743" y="3243072"/>
            <a:ext cx="2115592" cy="1121664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9759" y="3316224"/>
            <a:ext cx="187784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短文で書く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" y="4529328"/>
            <a:ext cx="3063240" cy="1121664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E6D6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4852416"/>
            <a:ext cx="475488" cy="475488"/>
          </a:xfrm>
          <a:prstGeom prst="ellipse">
            <a:avLst/>
          </a:prstGeom>
          <a:solidFill>
            <a:srgbClr val="A8862F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" y="4852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307592" y="4575048"/>
            <a:ext cx="2194560" cy="57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886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 3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307592" y="5112593"/>
            <a:ext cx="2194560" cy="493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段階は 4〜5 件が目安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85616" y="4529328"/>
            <a:ext cx="1511137" cy="1121664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77056" y="4529328"/>
            <a:ext cx="1328257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改行も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使える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24769" y="4529328"/>
            <a:ext cx="3928957" cy="1121664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2785" y="4602480"/>
            <a:ext cx="3691213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上の段階から</a:t>
            </a:r>
            <a:endParaRPr lang="en-US" sz="9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積み上げる構成に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481743" y="4529328"/>
            <a:ext cx="2115592" cy="1121664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9759" y="4602480"/>
            <a:ext cx="187784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・"/>
            </a:pPr>
            <a:r>
              <a:rPr lang="en-US" sz="90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 で全体を締める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" y="5788152"/>
            <a:ext cx="11002975" cy="566928"/>
          </a:xfrm>
          <a:prstGeom prst="roundRect">
            <a:avLst>
              <a:gd name="adj" fmla="val 14516"/>
            </a:avLst>
          </a:prstGeom>
          <a:solidFill>
            <a:srgbClr val="E9F0F5"/>
          </a:solidFill>
          <a:ln/>
        </p:spPr>
      </p:sp>
      <p:sp>
        <p:nvSpPr>
          <p:cNvPr id="46" name="Text 44"/>
          <p:cNvSpPr/>
          <p:nvPr/>
        </p:nvSpPr>
        <p:spPr>
          <a:xfrm>
            <a:off x="1005840" y="5788152"/>
            <a:ext cx="101800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 は省略可。マトリクス全体のまとめを下部に置けます。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表・マトリクス系の例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231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クロージング系の例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169768" y="3520440"/>
            <a:ext cx="5852160" cy="100584"/>
          </a:xfrm>
          <a:prstGeom prst="roundRect">
            <a:avLst>
              <a:gd name="adj" fmla="val 50000"/>
            </a:avLst>
          </a:prstGeom>
          <a:solidFill>
            <a:srgbClr val="BBD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82296" cy="960120"/>
          </a:xfrm>
          <a:prstGeom prst="rect">
            <a:avLst/>
          </a:prstGeom>
          <a:solidFill>
            <a:srgbClr val="4A7BA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384048"/>
            <a:ext cx="53218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contact の例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クロージングの見出しを 2 行まで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lead は左側のリード文。</a:t>
            </a:r>
            <a:endParaRPr lang="en-US" sz="12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呼びかけや締めのメッセージを</a:t>
            </a:r>
            <a:endParaRPr lang="en-US" sz="12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3〜4 行で書きます。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3246120"/>
            <a:ext cx="5577840" cy="2148840"/>
          </a:xfrm>
          <a:prstGeom prst="roundRect">
            <a:avLst>
              <a:gd name="adj" fmla="val 5106"/>
            </a:avLst>
          </a:prstGeom>
          <a:solidFill>
            <a:srgbClr val="FAF4E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383280"/>
            <a:ext cx="338328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Mail:  </a:t>
            </a:r>
            <a:pPr algn="l" indent="0" marL="0">
              <a:buNone/>
            </a:pPr>
            <a:r>
              <a:rPr lang="en-US" sz="13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example@example.com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320540"/>
            <a:ext cx="3200400" cy="0"/>
          </a:xfrm>
          <a:prstGeom prst="line">
            <a:avLst/>
          </a:prstGeom>
          <a:noFill/>
          <a:ln w="9525">
            <a:solidFill>
              <a:srgbClr val="E0D6B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0" y="4320540"/>
            <a:ext cx="338328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Web:  </a:t>
            </a:r>
            <a:pPr algn="l" indent="0" marL="0">
              <a:buNone/>
            </a:pPr>
            <a:r>
              <a:rPr lang="en-US" sz="1300" b="1" dirty="0">
                <a:solidFill>
                  <a:srgbClr val="4A7B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https://example.com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363474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26280" y="36347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 コード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548640"/>
            <a:ext cx="5013655" cy="4846320"/>
          </a:xfrm>
          <a:prstGeom prst="roundRect">
            <a:avLst>
              <a:gd name="adj" fmla="val 1132"/>
            </a:avLst>
          </a:prstGeom>
          <a:solidFill>
            <a:srgbClr val="FDFDFD"/>
          </a:solidFill>
          <a:ln w="9525">
            <a:solidFill>
              <a:srgbClr val="B7C2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83680" y="548640"/>
            <a:ext cx="5013655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メインビジュアル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5715000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E9F0F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715000"/>
            <a:ext cx="101800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E6A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footer は下部の帯。省略も可能です。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" y="109728"/>
            <a:ext cx="77020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クロージング系の例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サンプル資料 — pastel テーマ全 kind の表示確認</dc:title>
  <dc:subject>PptxGenJS Presentation</dc:subject>
  <dc:creator>PptxGenJS</dc:creator>
  <cp:lastModifiedBy>PptxGenJS</cp:lastModifiedBy>
  <cp:revision>1</cp:revision>
  <dcterms:created xsi:type="dcterms:W3CDTF">2026-07-24T03:04:18Z</dcterms:created>
  <dcterms:modified xsi:type="dcterms:W3CDTF">2026-07-24T03:04:18Z</dcterms:modified>
</cp:coreProperties>
</file>